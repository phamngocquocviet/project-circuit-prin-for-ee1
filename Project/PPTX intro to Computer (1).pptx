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6525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timing: around 7.5-8 minutes without a demo section.
Hello teachers and fellow students. Our group consists of five members: [Name 1], [Name 2], [Name 3], [Name 4], and [Name 5]. Today, our group would like to introduce a learning support application project for the Principles of Electrical Engineering subject, or PEE, designed for engineering students.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researching how students study and solve electrical circuit problems, our group noticed that students do not only have to calculate final answers. They also need to read circuit diagrams, identify nodes, check whether components are connected correctly, and understand why each solving step is used. This can be difficult for beginners, especially when they are still learning how circuit structure relates to equations.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tools often create a trade-off. Professional simulation software such as LTspice, Proteus, or Multisim is powerful, but it can feel complex for students who are just starting. On the other hand, simpler tools may be easier to use, but they often do not explain the solving logic clearly. Therefore, our project question is: can we build a simple and intuitive tool that supports both circuit drawing and understanding?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 learning tool built around a simple workflow: draw the circuit, check the circuit structure, analyze the problem, and explain the solution. The purpose is not only to produce a final number. The purpose is to help students move from the visual circuit to the reasoning behind the equations.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focuses on three main functions. The first is interactive circuit drawing. Users can place components such as resistors, capacitors, inductors, voltage sources, and current sources onto a grid Canvas. The system also supports component rotation, value editing, zooming, undoing, and wiring. The second function is Topology Check, which checks the structure of the circuit and can detect basic issues such as unconnected components, open terminals, or separated circuit parts. The third function is saving and managing circuits, so users can save or re-import diagrams as .circuit or .json files.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the project was developed in Visual Studio Code, using Python as the main programming language. The current version is built as a PyQt5 desktop application, so the interface, Canvas, and user interactions run directly inside the desktop app. When the user draws a circuit, the program does not treat it as only an image. It stores components, values, wires, and terminal connections as structured data. The system then checks the circuit structure and sends the structured circuit information to the AI analysis layer. For AI support, the system can work with providers such as Ollama Local, Google Gemini, and OpenAI. Finally, the result is displayed using Markdown and KaTeX so equations and explanations are easier to read.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our group wants to focus on is not simply having AI provide a final answer. Instead, the output is separated into two learning purposes. The Solution part presents the step-by-step solving process. The Explanation part describes why those steps are performed. For example, instead of only giving a KCL equation, the system can explain why current flows into or out of a node and why each term appears in the equation. This helps students understand not only what the answer is, but also why the answer exists. However, because AI can still produce inaccurate results, we treat it as a learning support tool, not an absolute verification source.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concluding, we also want to be clear about the current limitations and roadmap. First, the AI output can be inaccurate, so it should not be treated as the only verification source. Second, the current version focuses mainly on structure checking and AI-assisted explanation, not a complete independent numerical circuit solver. Third, interactive wiring is still basic and can be improved with more terminal-level control. Based on these limitations, our roadmap is to develop an independent circuit solver, expand the component library, improve wiring validation, and add more practice modes and clearer feedback for beginners.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project does not aim to replace professional software such as LTspice, Proteus, or Multisim. Instead, our goal is to build a simpler and more accessible learning tool for students who are new to electrical circuits. The application combines visual circuit drawing, automated structure checking, and AI-assisted explanation. Through this, students can better understand circuit structure and solving logic before moving to more advanced tools. That concludes our group's presentation. Thank you for listening, and we welcome your questions and feedback.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18D29-CD9A-3AF2-617C-B7E458D83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1D4AC-23A9-5188-9810-3D0C32937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F906A-8A57-7EC8-0A08-FE784E49C5A8}"/>
              </a:ext>
            </a:extLst>
          </p:cNvPr>
          <p:cNvSpPr>
            <a:spLocks noGrp="1"/>
          </p:cNvSpPr>
          <p:nvPr>
            <p:ph type="body" idx="1"/>
          </p:nvPr>
        </p:nvSpPr>
        <p:spPr/>
        <p:txBody>
          <a:bodyPr/>
          <a:lstStyle/>
          <a:p>
            <a:r>
              <a:rPr lang="en-US" dirty="0"/>
              <a:t>To conclude, our project does not aim to replace professional software such as LTspice, Proteus, or Multisim. Instead, our goal is to build a simpler and more accessible learning tool for students who are new to electrical circuits. The application combines visual circuit drawing, automated structure checking, and AI-assisted explanation. Through this, students can better understand circuit structure and solving logic before moving to more advanced tools. That concludes our group's presentation. Thank you for listening, and we welcome your questions and feedback.</a:t>
            </a:r>
          </a:p>
        </p:txBody>
      </p:sp>
      <p:sp>
        <p:nvSpPr>
          <p:cNvPr id="4" name="Slide Number Placeholder 3">
            <a:extLst>
              <a:ext uri="{FF2B5EF4-FFF2-40B4-BE49-F238E27FC236}">
                <a16:creationId xmlns:a16="http://schemas.microsoft.com/office/drawing/2014/main" id="{2FFB78EC-2EDC-612F-92FB-27B7F487ECA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77729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A5E9"/>
          </a:solidFill>
          <a:ln w="12700">
            <a:solidFill>
              <a:srgbClr val="0EA5E9">
                <a:alpha val="0"/>
              </a:srgbClr>
            </a:solidFill>
            <a:prstDash val="solid"/>
          </a:ln>
        </p:spPr>
        <p:txBody>
          <a:bodyPr/>
          <a:lstStyle/>
          <a:p>
            <a:endParaRPr lang="en-US"/>
          </a:p>
        </p:txBody>
      </p:sp>
      <p:sp>
        <p:nvSpPr>
          <p:cNvPr id="10" name="Text 8"/>
          <p:cNvSpPr/>
          <p:nvPr/>
        </p:nvSpPr>
        <p:spPr>
          <a:xfrm>
            <a:off x="594360" y="6473952"/>
            <a:ext cx="292608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PEE Project | 1</a:t>
            </a:r>
            <a:endParaRPr lang="en-US" sz="850" dirty="0"/>
          </a:p>
        </p:txBody>
      </p:sp>
      <p:sp>
        <p:nvSpPr>
          <p:cNvPr id="12" name="TextBox 11">
            <a:extLst>
              <a:ext uri="{FF2B5EF4-FFF2-40B4-BE49-F238E27FC236}">
                <a16:creationId xmlns:a16="http://schemas.microsoft.com/office/drawing/2014/main" id="{F861186C-2514-D9B5-EA07-F3AB5E16CE06}"/>
              </a:ext>
            </a:extLst>
          </p:cNvPr>
          <p:cNvSpPr txBox="1"/>
          <p:nvPr/>
        </p:nvSpPr>
        <p:spPr>
          <a:xfrm>
            <a:off x="6111374" y="481245"/>
            <a:ext cx="4550434" cy="1585049"/>
          </a:xfrm>
          <a:prstGeom prst="rect">
            <a:avLst/>
          </a:prstGeom>
          <a:noFill/>
        </p:spPr>
        <p:txBody>
          <a:bodyPr wrap="square">
            <a:spAutoFit/>
          </a:bodyPr>
          <a:lstStyle/>
          <a:p>
            <a:pPr rtl="0">
              <a:buNone/>
            </a:pPr>
            <a:r>
              <a:rPr lang="en-US" sz="3050" b="1" i="0" u="none" strike="noStrike" dirty="0">
                <a:solidFill>
                  <a:srgbClr val="1E1B4B"/>
                </a:solidFill>
                <a:effectLst/>
                <a:latin typeface="Times New Roman" panose="02020603050405020304" pitchFamily="18" charset="0"/>
                <a:cs typeface="Times New Roman" panose="02020603050405020304" pitchFamily="18" charset="0"/>
              </a:rPr>
              <a:t>Institution:</a:t>
            </a:r>
            <a:r>
              <a:rPr lang="en-US" sz="3050" b="0" i="0" u="none" strike="noStrike" dirty="0">
                <a:solidFill>
                  <a:srgbClr val="581C87"/>
                </a:solidFill>
                <a:effectLst/>
                <a:latin typeface="Times New Roman" panose="02020603050405020304" pitchFamily="18" charset="0"/>
                <a:cs typeface="Times New Roman" panose="02020603050405020304" pitchFamily="18" charset="0"/>
              </a:rPr>
              <a:t> </a:t>
            </a:r>
            <a:r>
              <a:rPr lang="en-US" sz="3050" b="0" i="0" u="none" strike="noStrike" dirty="0">
                <a:solidFill>
                  <a:schemeClr val="accent1"/>
                </a:solidFill>
                <a:effectLst/>
                <a:latin typeface="Times New Roman" panose="02020603050405020304" pitchFamily="18" charset="0"/>
                <a:cs typeface="Times New Roman" panose="02020603050405020304" pitchFamily="18" charset="0"/>
              </a:rPr>
              <a:t>International University – VNU-HCM</a:t>
            </a:r>
            <a:endParaRPr lang="en-US" b="0" dirty="0">
              <a:solidFill>
                <a:schemeClr val="accent1"/>
              </a:solidFill>
              <a:effectLst/>
              <a:latin typeface="Times New Roman" panose="02020603050405020304" pitchFamily="18" charset="0"/>
              <a:cs typeface="Times New Roman" panose="02020603050405020304" pitchFamily="18" charset="0"/>
            </a:endParaRPr>
          </a:p>
          <a:p>
            <a:pPr>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8B14652-1D8F-AC9A-F443-193477BACE40}"/>
              </a:ext>
            </a:extLst>
          </p:cNvPr>
          <p:cNvSpPr txBox="1"/>
          <p:nvPr/>
        </p:nvSpPr>
        <p:spPr>
          <a:xfrm>
            <a:off x="6123882" y="1581954"/>
            <a:ext cx="4245059" cy="1115690"/>
          </a:xfrm>
          <a:prstGeom prst="rect">
            <a:avLst/>
          </a:prstGeom>
          <a:noFill/>
        </p:spPr>
        <p:txBody>
          <a:bodyPr wrap="square">
            <a:spAutoFit/>
          </a:bodyPr>
          <a:lstStyle/>
          <a:p>
            <a:pPr rtl="0">
              <a:buNone/>
            </a:pPr>
            <a:r>
              <a:rPr lang="en-US" sz="3050" b="1" i="0" u="none" strike="noStrike" dirty="0">
                <a:solidFill>
                  <a:srgbClr val="1E1B4B"/>
                </a:solidFill>
                <a:effectLst/>
                <a:latin typeface="Times New Roman" panose="02020603050405020304" pitchFamily="18" charset="0"/>
                <a:cs typeface="Times New Roman" panose="02020603050405020304" pitchFamily="18" charset="0"/>
              </a:rPr>
              <a:t>Date:</a:t>
            </a:r>
            <a:r>
              <a:rPr lang="en-US" sz="3050" b="0" i="0" u="none" strike="noStrike" dirty="0">
                <a:solidFill>
                  <a:srgbClr val="581C87"/>
                </a:solidFill>
                <a:effectLst/>
                <a:latin typeface="Times New Roman" panose="02020603050405020304" pitchFamily="18" charset="0"/>
                <a:cs typeface="Times New Roman" panose="02020603050405020304" pitchFamily="18" charset="0"/>
              </a:rPr>
              <a:t> </a:t>
            </a:r>
            <a:r>
              <a:rPr lang="en-US" sz="3050" b="0" i="0" u="none" strike="noStrike" dirty="0">
                <a:solidFill>
                  <a:schemeClr val="accent1"/>
                </a:solidFill>
                <a:effectLst/>
                <a:latin typeface="Times New Roman" panose="02020603050405020304" pitchFamily="18" charset="0"/>
                <a:cs typeface="Times New Roman" panose="02020603050405020304" pitchFamily="18" charset="0"/>
              </a:rPr>
              <a:t>August 13th, 2026</a:t>
            </a:r>
            <a:endParaRPr lang="en-US" b="0" dirty="0">
              <a:solidFill>
                <a:schemeClr val="accent1"/>
              </a:solidFill>
              <a:effectLst/>
              <a:latin typeface="Times New Roman" panose="02020603050405020304" pitchFamily="18" charset="0"/>
              <a:cs typeface="Times New Roman" panose="02020603050405020304" pitchFamily="18" charset="0"/>
            </a:endParaRPr>
          </a:p>
          <a:p>
            <a:pPr>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7F9A824-E015-D221-C19A-C236A8E9BCC5}"/>
              </a:ext>
            </a:extLst>
          </p:cNvPr>
          <p:cNvSpPr txBox="1"/>
          <p:nvPr/>
        </p:nvSpPr>
        <p:spPr>
          <a:xfrm>
            <a:off x="6169255" y="2382947"/>
            <a:ext cx="5476405" cy="3046988"/>
          </a:xfrm>
          <a:prstGeom prst="rect">
            <a:avLst/>
          </a:prstGeom>
          <a:noFill/>
        </p:spPr>
        <p:txBody>
          <a:bodyPr wrap="square">
            <a:spAutoFit/>
          </a:bodyPr>
          <a:lstStyle/>
          <a:p>
            <a:pPr rtl="0">
              <a:buNone/>
            </a:pPr>
            <a:r>
              <a:rPr lang="en-US" sz="2400" b="1" i="0" u="none" strike="noStrike" dirty="0">
                <a:solidFill>
                  <a:srgbClr val="1E1B4B"/>
                </a:solidFill>
                <a:effectLst/>
                <a:latin typeface="Times New Roman" panose="02020603050405020304" pitchFamily="18" charset="0"/>
                <a:cs typeface="Times New Roman" panose="02020603050405020304" pitchFamily="18" charset="0"/>
              </a:rPr>
              <a:t>Team Members:</a:t>
            </a:r>
            <a:br>
              <a:rPr lang="en-US" sz="2400" b="0" i="0" u="none" strike="noStrike" dirty="0">
                <a:solidFill>
                  <a:srgbClr val="000000"/>
                </a:solidFill>
                <a:effectLst/>
                <a:latin typeface="Times New Roman" panose="02020603050405020304" pitchFamily="18" charset="0"/>
                <a:cs typeface="Times New Roman" panose="02020603050405020304" pitchFamily="18" charset="0"/>
              </a:rPr>
            </a:br>
            <a:r>
              <a:rPr lang="en-US" sz="2400" b="0" i="0" u="none" strike="noStrike" dirty="0">
                <a:solidFill>
                  <a:schemeClr val="accent1"/>
                </a:solidFill>
                <a:effectLst/>
                <a:latin typeface="Times New Roman" panose="02020603050405020304" pitchFamily="18" charset="0"/>
                <a:cs typeface="Times New Roman" panose="02020603050405020304" pitchFamily="18" charset="0"/>
              </a:rPr>
              <a:t>• Phạm Ngọc Quốc Việt-EEEEIU24010</a:t>
            </a:r>
            <a:br>
              <a:rPr lang="en-US" sz="2400" b="0" i="0" u="none" strike="noStrike" dirty="0">
                <a:solidFill>
                  <a:schemeClr val="accent1"/>
                </a:solidFill>
                <a:effectLst/>
                <a:latin typeface="Times New Roman" panose="02020603050405020304" pitchFamily="18" charset="0"/>
                <a:cs typeface="Times New Roman" panose="02020603050405020304" pitchFamily="18" charset="0"/>
              </a:rPr>
            </a:br>
            <a:r>
              <a:rPr lang="en-US" sz="2400" b="0" i="0" u="none" strike="noStrike" dirty="0">
                <a:solidFill>
                  <a:schemeClr val="accent1"/>
                </a:solidFill>
                <a:effectLst/>
                <a:latin typeface="Times New Roman" panose="02020603050405020304" pitchFamily="18" charset="0"/>
                <a:cs typeface="Times New Roman" panose="02020603050405020304" pitchFamily="18" charset="0"/>
              </a:rPr>
              <a:t>• Nguyễn Anh Quân-EEACIU25049</a:t>
            </a:r>
            <a:endParaRPr lang="en-US" sz="2400" dirty="0">
              <a:solidFill>
                <a:schemeClr val="accent1"/>
              </a:solidFill>
              <a:latin typeface="Times New Roman" panose="02020603050405020304" pitchFamily="18" charset="0"/>
              <a:cs typeface="Times New Roman" panose="02020603050405020304" pitchFamily="18" charset="0"/>
            </a:endParaRPr>
          </a:p>
          <a:p>
            <a:pPr rtl="0">
              <a:buNone/>
            </a:pPr>
            <a:r>
              <a:rPr lang="en-US" sz="2400" b="0" i="0" u="none" strike="noStrike" dirty="0">
                <a:solidFill>
                  <a:schemeClr val="accent1"/>
                </a:solidFill>
                <a:effectLst/>
                <a:latin typeface="Times New Roman" panose="02020603050405020304" pitchFamily="18" charset="0"/>
                <a:cs typeface="Times New Roman" panose="02020603050405020304" pitchFamily="18" charset="0"/>
              </a:rPr>
              <a:t>• Ngô Phan Minh Quân-EEACIU25050</a:t>
            </a:r>
            <a:br>
              <a:rPr lang="en-US" sz="2400" b="0" i="0" u="none" strike="noStrike" dirty="0">
                <a:solidFill>
                  <a:schemeClr val="accent1"/>
                </a:solidFill>
                <a:effectLst/>
                <a:latin typeface="Times New Roman" panose="02020603050405020304" pitchFamily="18" charset="0"/>
                <a:cs typeface="Times New Roman" panose="02020603050405020304" pitchFamily="18" charset="0"/>
              </a:rPr>
            </a:br>
            <a:r>
              <a:rPr lang="en-US" sz="2400" b="0" i="0" u="none" strike="noStrike" dirty="0">
                <a:solidFill>
                  <a:schemeClr val="accent1"/>
                </a:solidFill>
                <a:effectLst/>
                <a:latin typeface="Times New Roman" panose="02020603050405020304" pitchFamily="18" charset="0"/>
                <a:cs typeface="Times New Roman" panose="02020603050405020304" pitchFamily="18" charset="0"/>
              </a:rPr>
              <a:t>• Nguy</a:t>
            </a:r>
            <a:r>
              <a:rPr lang="en-US" sz="2400" dirty="0">
                <a:solidFill>
                  <a:schemeClr val="accent1"/>
                </a:solidFill>
                <a:latin typeface="Times New Roman" panose="02020603050405020304" pitchFamily="18" charset="0"/>
                <a:cs typeface="Times New Roman" panose="02020603050405020304" pitchFamily="18" charset="0"/>
              </a:rPr>
              <a:t>ễ</a:t>
            </a:r>
            <a:r>
              <a:rPr lang="en-US" sz="2400" b="0" i="0" u="none" strike="noStrike" dirty="0">
                <a:solidFill>
                  <a:schemeClr val="accent1"/>
                </a:solidFill>
                <a:effectLst/>
                <a:latin typeface="Times New Roman" panose="02020603050405020304" pitchFamily="18" charset="0"/>
                <a:cs typeface="Times New Roman" panose="02020603050405020304" pitchFamily="18" charset="0"/>
              </a:rPr>
              <a:t>n Lê Minh Quân-EEACIU25051</a:t>
            </a:r>
            <a:br>
              <a:rPr lang="en-US" sz="2400" b="0" i="0" u="none" strike="noStrike" dirty="0">
                <a:solidFill>
                  <a:schemeClr val="accent1"/>
                </a:solidFill>
                <a:effectLst/>
                <a:latin typeface="Times New Roman" panose="02020603050405020304" pitchFamily="18" charset="0"/>
                <a:cs typeface="Times New Roman" panose="02020603050405020304" pitchFamily="18" charset="0"/>
              </a:rPr>
            </a:br>
            <a:r>
              <a:rPr lang="en-US" sz="2400" b="0" i="0" u="none" strike="noStrike" dirty="0">
                <a:solidFill>
                  <a:schemeClr val="accent1"/>
                </a:solidFill>
                <a:effectLst/>
                <a:latin typeface="Times New Roman" panose="02020603050405020304" pitchFamily="18" charset="0"/>
                <a:cs typeface="Times New Roman" panose="02020603050405020304" pitchFamily="18" charset="0"/>
              </a:rPr>
              <a:t>• Ho</a:t>
            </a:r>
            <a:r>
              <a:rPr lang="en-US" sz="2400" dirty="0">
                <a:solidFill>
                  <a:schemeClr val="accent1"/>
                </a:solidFill>
                <a:latin typeface="Times New Roman" panose="02020603050405020304" pitchFamily="18" charset="0"/>
                <a:cs typeface="Times New Roman" panose="02020603050405020304" pitchFamily="18" charset="0"/>
              </a:rPr>
              <a:t>à</a:t>
            </a:r>
            <a:r>
              <a:rPr lang="en-US" sz="2400" b="0" i="0" u="none" strike="noStrike" dirty="0">
                <a:solidFill>
                  <a:schemeClr val="accent1"/>
                </a:solidFill>
                <a:effectLst/>
                <a:latin typeface="Times New Roman" panose="02020603050405020304" pitchFamily="18" charset="0"/>
                <a:cs typeface="Times New Roman" panose="02020603050405020304" pitchFamily="18" charset="0"/>
              </a:rPr>
              <a:t>ng Bá Minh Quân-EEACIU25052</a:t>
            </a:r>
            <a:endParaRPr lang="en-US" sz="2400" b="0" dirty="0">
              <a:solidFill>
                <a:schemeClr val="accent1"/>
              </a:solidFill>
              <a:effectLst/>
              <a:latin typeface="Times New Roman" panose="02020603050405020304" pitchFamily="18" charset="0"/>
              <a:cs typeface="Times New Roman" panose="02020603050405020304" pitchFamily="18" charset="0"/>
            </a:endParaRPr>
          </a:p>
          <a:p>
            <a:pPr>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pic>
        <p:nvPicPr>
          <p:cNvPr id="17" name="Picture 16" descr="image.png">
            <a:extLst>
              <a:ext uri="{FF2B5EF4-FFF2-40B4-BE49-F238E27FC236}">
                <a16:creationId xmlns:a16="http://schemas.microsoft.com/office/drawing/2014/main" id="{D2D92091-F847-4954-4E12-E0C4B6B53BEE}"/>
              </a:ext>
            </a:extLst>
          </p:cNvPr>
          <p:cNvPicPr>
            <a:picLocks noChangeAspect="1"/>
          </p:cNvPicPr>
          <p:nvPr/>
        </p:nvPicPr>
        <p:blipFill>
          <a:blip r:embed="rId3">
            <a:duotone>
              <a:schemeClr val="accent1">
                <a:shade val="45000"/>
                <a:satMod val="135000"/>
              </a:schemeClr>
              <a:prstClr val="white"/>
            </a:duotone>
          </a:blip>
          <a:stretch>
            <a:fillRect/>
          </a:stretch>
        </p:blipFill>
        <p:spPr>
          <a:xfrm>
            <a:off x="0" y="-89549"/>
            <a:ext cx="5797841" cy="7037098"/>
          </a:xfrm>
          <a:prstGeom prst="rect">
            <a:avLst/>
          </a:prstGeom>
        </p:spPr>
      </p:pic>
      <p:pic>
        <p:nvPicPr>
          <p:cNvPr id="18" name="Picture 17" descr="image.png">
            <a:extLst>
              <a:ext uri="{FF2B5EF4-FFF2-40B4-BE49-F238E27FC236}">
                <a16:creationId xmlns:a16="http://schemas.microsoft.com/office/drawing/2014/main" id="{2D37CAA7-5E19-612D-5A10-796E52FF8C14}"/>
              </a:ext>
            </a:extLst>
          </p:cNvPr>
          <p:cNvPicPr>
            <a:picLocks noChangeAspect="1"/>
          </p:cNvPicPr>
          <p:nvPr/>
        </p:nvPicPr>
        <p:blipFill>
          <a:blip r:embed="rId4"/>
          <a:stretch>
            <a:fillRect/>
          </a:stretch>
        </p:blipFill>
        <p:spPr>
          <a:xfrm>
            <a:off x="135698" y="1787747"/>
            <a:ext cx="2497694" cy="336228"/>
          </a:xfrm>
          <a:prstGeom prst="rect">
            <a:avLst/>
          </a:prstGeom>
        </p:spPr>
      </p:pic>
      <p:sp>
        <p:nvSpPr>
          <p:cNvPr id="20" name="TextBox 19">
            <a:extLst>
              <a:ext uri="{FF2B5EF4-FFF2-40B4-BE49-F238E27FC236}">
                <a16:creationId xmlns:a16="http://schemas.microsoft.com/office/drawing/2014/main" id="{25F11255-22E2-4BCD-4F29-E1CEE518AEB0}"/>
              </a:ext>
            </a:extLst>
          </p:cNvPr>
          <p:cNvSpPr txBox="1"/>
          <p:nvPr/>
        </p:nvSpPr>
        <p:spPr>
          <a:xfrm>
            <a:off x="135698" y="2195777"/>
            <a:ext cx="6154946" cy="1938992"/>
          </a:xfrm>
          <a:prstGeom prst="rect">
            <a:avLst/>
          </a:prstGeom>
          <a:noFill/>
        </p:spPr>
        <p:txBody>
          <a:bodyPr wrap="square">
            <a:spAutoFit/>
          </a:bodyPr>
          <a:lstStyle/>
          <a:p>
            <a:pPr rtl="0">
              <a:buNone/>
            </a:pPr>
            <a:r>
              <a:rPr lang="en-US" sz="4000" b="1" i="0" u="none" strike="noStrike" dirty="0" err="1">
                <a:solidFill>
                  <a:srgbClr val="FFFFFF"/>
                </a:solidFill>
                <a:effectLst/>
                <a:latin typeface="Space Grotesk"/>
              </a:rPr>
              <a:t>CircuitSolver</a:t>
            </a:r>
            <a:endParaRPr lang="en-US" sz="4000" b="0" dirty="0">
              <a:effectLst/>
            </a:endParaRPr>
          </a:p>
          <a:p>
            <a:pPr>
              <a:buNone/>
            </a:pPr>
            <a:br>
              <a:rPr lang="en-US" sz="4000" dirty="0"/>
            </a:br>
            <a:endParaRPr lang="en-US" sz="4000" dirty="0"/>
          </a:p>
        </p:txBody>
      </p:sp>
      <p:sp>
        <p:nvSpPr>
          <p:cNvPr id="24" name="TextBox 23">
            <a:extLst>
              <a:ext uri="{FF2B5EF4-FFF2-40B4-BE49-F238E27FC236}">
                <a16:creationId xmlns:a16="http://schemas.microsoft.com/office/drawing/2014/main" id="{03CAECA0-9F2D-1FBB-5EFA-CEAC56B3F436}"/>
              </a:ext>
            </a:extLst>
          </p:cNvPr>
          <p:cNvSpPr txBox="1"/>
          <p:nvPr/>
        </p:nvSpPr>
        <p:spPr>
          <a:xfrm>
            <a:off x="239215" y="2925958"/>
            <a:ext cx="5694324" cy="1384995"/>
          </a:xfrm>
          <a:prstGeom prst="rect">
            <a:avLst/>
          </a:prstGeom>
          <a:noFill/>
        </p:spPr>
        <p:txBody>
          <a:bodyPr wrap="square">
            <a:spAutoFit/>
          </a:bodyPr>
          <a:lstStyle/>
          <a:p>
            <a:r>
              <a:rPr lang="en-US" sz="2800" b="0" i="0" u="none" strike="noStrike" dirty="0">
                <a:solidFill>
                  <a:schemeClr val="accent4">
                    <a:lumMod val="60000"/>
                    <a:lumOff val="40000"/>
                  </a:schemeClr>
                </a:solidFill>
                <a:effectLst/>
                <a:latin typeface="Times New Roman" panose="02020603050405020304" pitchFamily="18" charset="0"/>
                <a:cs typeface="Times New Roman" panose="02020603050405020304" pitchFamily="18" charset="0"/>
              </a:rPr>
              <a:t>Electrical Engineering Learning App with Topology Validation &amp; AI Walkthroughs</a:t>
            </a:r>
            <a:endParaRPr lang="en-US" sz="2800"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A5E9"/>
          </a:solidFill>
          <a:ln w="12700">
            <a:solidFill>
              <a:srgbClr val="0EA5E9">
                <a:alpha val="0"/>
              </a:srgbClr>
            </a:solidFill>
            <a:prstDash val="solid"/>
          </a:ln>
        </p:spPr>
        <p:txBody>
          <a:bodyPr/>
          <a:lstStyle/>
          <a:p>
            <a:endParaRPr lang="en-US"/>
          </a:p>
        </p:txBody>
      </p:sp>
      <p:sp>
        <p:nvSpPr>
          <p:cNvPr id="3" name="Text 1"/>
          <p:cNvSpPr/>
          <p:nvPr/>
        </p:nvSpPr>
        <p:spPr>
          <a:xfrm>
            <a:off x="594360" y="502920"/>
            <a:ext cx="8961120" cy="475488"/>
          </a:xfrm>
          <a:prstGeom prst="rect">
            <a:avLst/>
          </a:prstGeom>
          <a:noFill/>
          <a:ln/>
        </p:spPr>
        <p:txBody>
          <a:bodyPr wrap="square" lIns="0" tIns="0" rIns="0" bIns="0" rtlCol="0" anchor="ctr">
            <a:normAutofit/>
          </a:bodyPr>
          <a:lstStyle/>
          <a:p>
            <a:pPr marL="0" indent="0">
              <a:buNone/>
            </a:pPr>
            <a:r>
              <a:rPr lang="en-US" sz="3000" b="1" dirty="0">
                <a:solidFill>
                  <a:srgbClr val="0F172A"/>
                </a:solidFill>
                <a:latin typeface="Times New Roman" panose="02020603050405020304" pitchFamily="18" charset="0"/>
                <a:ea typeface="Aptos Display" pitchFamily="34" charset="-122"/>
                <a:cs typeface="Times New Roman" panose="02020603050405020304" pitchFamily="18" charset="0"/>
              </a:rPr>
              <a:t>The learning problem</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621792" y="1024128"/>
            <a:ext cx="7772400" cy="256032"/>
          </a:xfrm>
          <a:prstGeom prst="rect">
            <a:avLst/>
          </a:prstGeom>
          <a:noFill/>
          <a:ln/>
        </p:spPr>
        <p:txBody>
          <a:bodyPr wrap="square" lIns="0" tIns="0" rIns="0" bIns="0" rtlCol="0" anchor="ctr">
            <a:noAutofit/>
          </a:bodyPr>
          <a:lstStyle/>
          <a:p>
            <a:pPr marL="0" indent="0">
              <a:buNone/>
            </a:pPr>
            <a:r>
              <a:rPr lang="en-US" sz="2000" dirty="0">
                <a:solidFill>
                  <a:srgbClr val="0369A1"/>
                </a:solidFill>
                <a:latin typeface="Times New Roman" panose="02020603050405020304" pitchFamily="18" charset="0"/>
                <a:cs typeface="Times New Roman" panose="02020603050405020304" pitchFamily="18" charset="0"/>
              </a:rPr>
              <a:t>Students need more than final numerical answers.</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612648" y="1389888"/>
            <a:ext cx="5120640" cy="393192"/>
          </a:xfrm>
          <a:prstGeom prst="rect">
            <a:avLst/>
          </a:prstGeom>
          <a:noFill/>
          <a:ln/>
        </p:spPr>
        <p:txBody>
          <a:bodyPr wrap="square" lIns="0" tIns="0" rIns="0" bIns="0" rtlCol="0" anchor="ctr">
            <a:noAutofit/>
          </a:bodyPr>
          <a:lstStyle/>
          <a:p>
            <a:pPr marL="0" indent="0">
              <a:buNone/>
            </a:pPr>
            <a:r>
              <a:rPr lang="en-US" sz="2000" b="1" dirty="0">
                <a:solidFill>
                  <a:srgbClr val="0369A1"/>
                </a:solidFill>
                <a:latin typeface="Times New Roman" panose="02020603050405020304" pitchFamily="18" charset="0"/>
                <a:cs typeface="Times New Roman" panose="02020603050405020304" pitchFamily="18" charset="0"/>
              </a:rPr>
              <a:t>1. INTRODUCTION AND PROBLEM </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658368" y="1847088"/>
            <a:ext cx="5074920" cy="420624"/>
          </a:xfrm>
          <a:prstGeom prst="rect">
            <a:avLst/>
          </a:prstGeom>
          <a:noFill/>
          <a:ln/>
        </p:spPr>
        <p:txBody>
          <a:bodyPr wrap="square" lIns="0" tIns="0" rIns="0" bIns="0" rtlCol="0" anchor="ctr">
            <a:normAutofit fontScale="92500" lnSpcReduction="20000"/>
          </a:bodyPr>
          <a:lstStyle/>
          <a:p>
            <a:pPr marL="0" indent="0">
              <a:buNone/>
            </a:pPr>
            <a:r>
              <a:rPr lang="en-US" sz="1800" dirty="0">
                <a:solidFill>
                  <a:srgbClr val="1E293B"/>
                </a:solidFill>
                <a:latin typeface="Times New Roman" panose="02020603050405020304" pitchFamily="18" charset="0"/>
                <a:cs typeface="Times New Roman" panose="02020603050405020304" pitchFamily="18" charset="0"/>
              </a:rPr>
              <a:t>When solving PEE circuit problems, students must handle several tasks at the same time:</a:t>
            </a:r>
            <a:endParaRPr lang="en-US" sz="1800" dirty="0">
              <a:latin typeface="Times New Roman" panose="02020603050405020304" pitchFamily="18" charset="0"/>
              <a:cs typeface="Times New Roman" panose="02020603050405020304" pitchFamily="18" charset="0"/>
            </a:endParaRPr>
          </a:p>
        </p:txBody>
      </p:sp>
      <p:sp>
        <p:nvSpPr>
          <p:cNvPr id="7" name="Shape 5"/>
          <p:cNvSpPr/>
          <p:nvPr/>
        </p:nvSpPr>
        <p:spPr>
          <a:xfrm>
            <a:off x="713232" y="2660904"/>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8" name="Text 6"/>
          <p:cNvSpPr/>
          <p:nvPr/>
        </p:nvSpPr>
        <p:spPr>
          <a:xfrm>
            <a:off x="914400" y="2578608"/>
            <a:ext cx="4297680" cy="347472"/>
          </a:xfrm>
          <a:prstGeom prst="rect">
            <a:avLst/>
          </a:prstGeom>
          <a:noFill/>
          <a:ln/>
        </p:spPr>
        <p:txBody>
          <a:bodyPr wrap="square" lIns="0" tIns="0" rIns="0" bIns="0" rtlCol="0" anchor="ctr">
            <a:normAutofit/>
          </a:bodyPr>
          <a:lstStyle/>
          <a:p>
            <a:pPr marL="0" indent="0">
              <a:buNone/>
            </a:pPr>
            <a:r>
              <a:rPr lang="en-US" sz="1700" dirty="0">
                <a:solidFill>
                  <a:srgbClr val="1E293B"/>
                </a:solidFill>
                <a:latin typeface="Times New Roman" panose="02020603050405020304" pitchFamily="18" charset="0"/>
                <a:cs typeface="Times New Roman" panose="02020603050405020304" pitchFamily="18" charset="0"/>
              </a:rPr>
              <a:t>Perform calculations correctly</a:t>
            </a:r>
            <a:endParaRPr lang="en-US" sz="1700" dirty="0">
              <a:latin typeface="Times New Roman" panose="02020603050405020304" pitchFamily="18" charset="0"/>
              <a:cs typeface="Times New Roman" panose="02020603050405020304" pitchFamily="18" charset="0"/>
            </a:endParaRPr>
          </a:p>
        </p:txBody>
      </p:sp>
      <p:sp>
        <p:nvSpPr>
          <p:cNvPr id="9" name="Shape 7"/>
          <p:cNvSpPr/>
          <p:nvPr/>
        </p:nvSpPr>
        <p:spPr>
          <a:xfrm>
            <a:off x="713232" y="3154680"/>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10" name="Text 8"/>
          <p:cNvSpPr/>
          <p:nvPr/>
        </p:nvSpPr>
        <p:spPr>
          <a:xfrm>
            <a:off x="914400" y="3072384"/>
            <a:ext cx="4297680" cy="347472"/>
          </a:xfrm>
          <a:prstGeom prst="rect">
            <a:avLst/>
          </a:prstGeom>
          <a:noFill/>
          <a:ln/>
        </p:spPr>
        <p:txBody>
          <a:bodyPr wrap="square" lIns="0" tIns="0" rIns="0" bIns="0" rtlCol="0" anchor="ctr">
            <a:normAutofit/>
          </a:bodyPr>
          <a:lstStyle/>
          <a:p>
            <a:pPr marL="0" indent="0">
              <a:buNone/>
            </a:pPr>
            <a:r>
              <a:rPr lang="en-US" sz="1700" dirty="0">
                <a:solidFill>
                  <a:srgbClr val="1E293B"/>
                </a:solidFill>
                <a:latin typeface="Times New Roman" panose="02020603050405020304" pitchFamily="18" charset="0"/>
                <a:cs typeface="Times New Roman" panose="02020603050405020304" pitchFamily="18" charset="0"/>
              </a:rPr>
              <a:t>Read and interpret circuit diagrams</a:t>
            </a:r>
            <a:endParaRPr lang="en-US" sz="1700" dirty="0">
              <a:latin typeface="Times New Roman" panose="02020603050405020304" pitchFamily="18" charset="0"/>
              <a:cs typeface="Times New Roman" panose="02020603050405020304" pitchFamily="18" charset="0"/>
            </a:endParaRPr>
          </a:p>
        </p:txBody>
      </p:sp>
      <p:sp>
        <p:nvSpPr>
          <p:cNvPr id="11" name="Shape 9"/>
          <p:cNvSpPr/>
          <p:nvPr/>
        </p:nvSpPr>
        <p:spPr>
          <a:xfrm>
            <a:off x="713232" y="3648456"/>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12" name="Text 10"/>
          <p:cNvSpPr/>
          <p:nvPr/>
        </p:nvSpPr>
        <p:spPr>
          <a:xfrm>
            <a:off x="914400" y="3566160"/>
            <a:ext cx="4297680" cy="347472"/>
          </a:xfrm>
          <a:prstGeom prst="rect">
            <a:avLst/>
          </a:prstGeom>
          <a:noFill/>
          <a:ln/>
        </p:spPr>
        <p:txBody>
          <a:bodyPr wrap="square" lIns="0" tIns="0" rIns="0" bIns="0" rtlCol="0" anchor="ctr">
            <a:normAutofit/>
          </a:bodyPr>
          <a:lstStyle/>
          <a:p>
            <a:pPr marL="0" indent="0">
              <a:buNone/>
            </a:pPr>
            <a:r>
              <a:rPr lang="en-US" sz="1700" dirty="0">
                <a:solidFill>
                  <a:srgbClr val="1E293B"/>
                </a:solidFill>
                <a:latin typeface="Times New Roman" panose="02020603050405020304" pitchFamily="18" charset="0"/>
                <a:cs typeface="Times New Roman" panose="02020603050405020304" pitchFamily="18" charset="0"/>
              </a:rPr>
              <a:t>Identify nodes and connections</a:t>
            </a:r>
            <a:endParaRPr lang="en-US" sz="1700" dirty="0">
              <a:latin typeface="Times New Roman" panose="02020603050405020304" pitchFamily="18" charset="0"/>
              <a:cs typeface="Times New Roman" panose="02020603050405020304" pitchFamily="18" charset="0"/>
            </a:endParaRPr>
          </a:p>
        </p:txBody>
      </p:sp>
      <p:sp>
        <p:nvSpPr>
          <p:cNvPr id="13" name="Shape 11"/>
          <p:cNvSpPr/>
          <p:nvPr/>
        </p:nvSpPr>
        <p:spPr>
          <a:xfrm>
            <a:off x="713232" y="4142232"/>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14" name="Text 12"/>
          <p:cNvSpPr/>
          <p:nvPr/>
        </p:nvSpPr>
        <p:spPr>
          <a:xfrm>
            <a:off x="914400" y="4059936"/>
            <a:ext cx="4297680" cy="347472"/>
          </a:xfrm>
          <a:prstGeom prst="rect">
            <a:avLst/>
          </a:prstGeom>
          <a:noFill/>
          <a:ln/>
        </p:spPr>
        <p:txBody>
          <a:bodyPr wrap="square" lIns="0" tIns="0" rIns="0" bIns="0" rtlCol="0" anchor="ctr">
            <a:normAutofit/>
          </a:bodyPr>
          <a:lstStyle/>
          <a:p>
            <a:pPr marL="0" indent="0">
              <a:buNone/>
            </a:pPr>
            <a:r>
              <a:rPr lang="en-US" sz="1700" dirty="0">
                <a:solidFill>
                  <a:srgbClr val="1E293B"/>
                </a:solidFill>
                <a:latin typeface="Times New Roman" panose="02020603050405020304" pitchFamily="18" charset="0"/>
                <a:cs typeface="Times New Roman" panose="02020603050405020304" pitchFamily="18" charset="0"/>
              </a:rPr>
              <a:t>Understand why each step is used</a:t>
            </a:r>
            <a:endParaRPr lang="en-US" sz="1700" dirty="0">
              <a:latin typeface="Times New Roman" panose="02020603050405020304" pitchFamily="18" charset="0"/>
              <a:cs typeface="Times New Roman" panose="02020603050405020304" pitchFamily="18" charset="0"/>
            </a:endParaRPr>
          </a:p>
        </p:txBody>
      </p:sp>
      <p:sp>
        <p:nvSpPr>
          <p:cNvPr id="15" name="Shape 13"/>
          <p:cNvSpPr/>
          <p:nvPr/>
        </p:nvSpPr>
        <p:spPr>
          <a:xfrm>
            <a:off x="658368" y="4498847"/>
            <a:ext cx="5257800" cy="1746677"/>
          </a:xfrm>
          <a:prstGeom prst="roundRect">
            <a:avLst>
              <a:gd name="adj" fmla="val 10256"/>
            </a:avLst>
          </a:prstGeom>
          <a:solidFill>
            <a:srgbClr val="E0F2FE"/>
          </a:solidFill>
          <a:ln w="12700">
            <a:solidFill>
              <a:srgbClr val="E0F2FE">
                <a:alpha val="0"/>
              </a:srgbClr>
            </a:solidFill>
            <a:prstDash val="solid"/>
          </a:ln>
        </p:spPr>
        <p:txBody>
          <a:bodyPr/>
          <a:lstStyle/>
          <a:p>
            <a:endParaRPr lang="en-US"/>
          </a:p>
        </p:txBody>
      </p:sp>
      <p:sp>
        <p:nvSpPr>
          <p:cNvPr id="16" name="Text 14"/>
          <p:cNvSpPr/>
          <p:nvPr/>
        </p:nvSpPr>
        <p:spPr>
          <a:xfrm>
            <a:off x="807720" y="5129784"/>
            <a:ext cx="5073655" cy="265176"/>
          </a:xfrm>
          <a:prstGeom prst="rect">
            <a:avLst/>
          </a:prstGeom>
          <a:noFill/>
          <a:ln/>
        </p:spPr>
        <p:txBody>
          <a:bodyPr wrap="square" lIns="0" tIns="0" rIns="0" bIns="0" rtlCol="0" anchor="ctr">
            <a:noAutofit/>
          </a:bodyPr>
          <a:lstStyle/>
          <a:p>
            <a:pPr marL="0" indent="0">
              <a:buNone/>
            </a:pPr>
            <a:r>
              <a:rPr lang="en-US" sz="2400" b="1" dirty="0">
                <a:solidFill>
                  <a:srgbClr val="0369A1"/>
                </a:solidFill>
                <a:latin typeface="Times New Roman" panose="02020603050405020304" pitchFamily="18" charset="0"/>
                <a:cs typeface="Times New Roman" panose="02020603050405020304" pitchFamily="18" charset="0"/>
              </a:rPr>
              <a:t>Core issue: beginners need guidance on both circuit structure and solution reasoning.</a:t>
            </a:r>
            <a:endParaRPr lang="en-US" sz="2400" dirty="0">
              <a:latin typeface="Times New Roman" panose="02020603050405020304" pitchFamily="18" charset="0"/>
              <a:cs typeface="Times New Roman" panose="02020603050405020304" pitchFamily="18" charset="0"/>
            </a:endParaRPr>
          </a:p>
        </p:txBody>
      </p:sp>
      <p:sp>
        <p:nvSpPr>
          <p:cNvPr id="17" name="Shape 15"/>
          <p:cNvSpPr/>
          <p:nvPr/>
        </p:nvSpPr>
        <p:spPr>
          <a:xfrm>
            <a:off x="6492240" y="1783080"/>
            <a:ext cx="4892040" cy="4160520"/>
          </a:xfrm>
          <a:prstGeom prst="roundRect">
            <a:avLst>
              <a:gd name="adj" fmla="val 2637"/>
            </a:avLst>
          </a:prstGeom>
          <a:solidFill>
            <a:srgbClr val="FFFFFF"/>
          </a:solidFill>
          <a:ln w="13970">
            <a:solidFill>
              <a:srgbClr val="CBD5E1"/>
            </a:solidFill>
            <a:prstDash val="solid"/>
          </a:ln>
        </p:spPr>
        <p:txBody>
          <a:bodyPr/>
          <a:lstStyle/>
          <a:p>
            <a:endParaRPr lang="en-US"/>
          </a:p>
        </p:txBody>
      </p:sp>
      <p:sp>
        <p:nvSpPr>
          <p:cNvPr id="19" name="Text 17"/>
          <p:cNvSpPr/>
          <p:nvPr/>
        </p:nvSpPr>
        <p:spPr>
          <a:xfrm>
            <a:off x="594360" y="6473952"/>
            <a:ext cx="292608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PEE Project | 2</a:t>
            </a:r>
            <a:endParaRPr lang="en-US" sz="850" dirty="0"/>
          </a:p>
        </p:txBody>
      </p:sp>
      <p:pic>
        <p:nvPicPr>
          <p:cNvPr id="21" name="Picture 20">
            <a:extLst>
              <a:ext uri="{FF2B5EF4-FFF2-40B4-BE49-F238E27FC236}">
                <a16:creationId xmlns:a16="http://schemas.microsoft.com/office/drawing/2014/main" id="{31116F27-B4A3-2E05-52E6-63FFDAB8CBBE}"/>
              </a:ext>
            </a:extLst>
          </p:cNvPr>
          <p:cNvPicPr>
            <a:picLocks noChangeAspect="1"/>
          </p:cNvPicPr>
          <p:nvPr/>
        </p:nvPicPr>
        <p:blipFill>
          <a:blip r:embed="rId3"/>
          <a:stretch>
            <a:fillRect/>
          </a:stretch>
        </p:blipFill>
        <p:spPr>
          <a:xfrm>
            <a:off x="6042919" y="1481328"/>
            <a:ext cx="5490713" cy="44510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A5E9"/>
          </a:solidFill>
          <a:ln w="12700">
            <a:solidFill>
              <a:srgbClr val="0EA5E9">
                <a:alpha val="0"/>
              </a:srgbClr>
            </a:solidFill>
            <a:prstDash val="solid"/>
          </a:ln>
        </p:spPr>
        <p:txBody>
          <a:bodyPr/>
          <a:lstStyle/>
          <a:p>
            <a:endParaRPr lang="en-US"/>
          </a:p>
        </p:txBody>
      </p:sp>
      <p:sp>
        <p:nvSpPr>
          <p:cNvPr id="3" name="Text 1"/>
          <p:cNvSpPr/>
          <p:nvPr/>
        </p:nvSpPr>
        <p:spPr>
          <a:xfrm>
            <a:off x="594360" y="502920"/>
            <a:ext cx="8961120" cy="475488"/>
          </a:xfrm>
          <a:prstGeom prst="rect">
            <a:avLst/>
          </a:prstGeom>
          <a:noFill/>
          <a:ln/>
        </p:spPr>
        <p:txBody>
          <a:bodyPr wrap="square" lIns="0" tIns="0" rIns="0" bIns="0" rtlCol="0" anchor="ctr">
            <a:normAutofit/>
          </a:bodyPr>
          <a:lstStyle/>
          <a:p>
            <a:pPr marL="0" indent="0">
              <a:buNone/>
            </a:pPr>
            <a:r>
              <a:rPr lang="en-US" sz="3000" b="1" dirty="0">
                <a:solidFill>
                  <a:srgbClr val="0F172A"/>
                </a:solidFill>
                <a:latin typeface="Times New Roman" panose="02020603050405020304" pitchFamily="18" charset="0"/>
                <a:ea typeface="Aptos Display" pitchFamily="34" charset="-122"/>
                <a:cs typeface="Times New Roman" panose="02020603050405020304" pitchFamily="18" charset="0"/>
              </a:rPr>
              <a:t>Gap in existing tools</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621792" y="1024128"/>
            <a:ext cx="7772400" cy="256032"/>
          </a:xfrm>
          <a:prstGeom prst="rect">
            <a:avLst/>
          </a:prstGeom>
          <a:noFill/>
          <a:ln/>
        </p:spPr>
        <p:txBody>
          <a:bodyPr wrap="square" lIns="0" tIns="0" rIns="0" bIns="0" rtlCol="0" anchor="ctr">
            <a:noAutofit/>
          </a:bodyPr>
          <a:lstStyle/>
          <a:p>
            <a:pPr marL="0" indent="0">
              <a:buNone/>
            </a:pPr>
            <a:r>
              <a:rPr lang="en-US" dirty="0">
                <a:solidFill>
                  <a:srgbClr val="0369A1"/>
                </a:solidFill>
                <a:latin typeface="Times New Roman" panose="02020603050405020304" pitchFamily="18" charset="0"/>
                <a:cs typeface="Times New Roman" panose="02020603050405020304" pitchFamily="18" charset="0"/>
              </a:rPr>
              <a:t>Professional tools are powerful, but not always beginner-friendly.</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612648" y="1389887"/>
            <a:ext cx="5303520" cy="315209"/>
          </a:xfrm>
          <a:prstGeom prst="rect">
            <a:avLst/>
          </a:prstGeom>
          <a:noFill/>
          <a:ln/>
        </p:spPr>
        <p:txBody>
          <a:bodyPr wrap="square" lIns="0" tIns="0" rIns="0" bIns="0" rtlCol="0" anchor="ctr">
            <a:normAutofit/>
          </a:bodyPr>
          <a:lstStyle/>
          <a:p>
            <a:pPr marL="0" indent="0">
              <a:buNone/>
            </a:pPr>
            <a:r>
              <a:rPr lang="en-US" sz="2000" b="1" dirty="0">
                <a:solidFill>
                  <a:srgbClr val="0369A1"/>
                </a:solidFill>
                <a:latin typeface="Times New Roman" panose="02020603050405020304" pitchFamily="18" charset="0"/>
                <a:cs typeface="Times New Roman" panose="02020603050405020304" pitchFamily="18" charset="0"/>
              </a:rPr>
              <a:t>1. INTRODUCTION AND PROBLEM </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658368" y="1847088"/>
            <a:ext cx="5940840" cy="365760"/>
          </a:xfrm>
          <a:prstGeom prst="rect">
            <a:avLst/>
          </a:prstGeom>
          <a:noFill/>
          <a:ln/>
        </p:spPr>
        <p:txBody>
          <a:bodyPr wrap="square" lIns="0" tIns="0" rIns="0" bIns="0" rtlCol="0" anchor="ctr"/>
          <a:lstStyle/>
          <a:p>
            <a:pPr marL="0" indent="0">
              <a:buNone/>
            </a:pPr>
            <a:r>
              <a:rPr lang="en-US" sz="2400" dirty="0">
                <a:solidFill>
                  <a:srgbClr val="1E293B"/>
                </a:solidFill>
                <a:latin typeface="Times New Roman" panose="02020603050405020304" pitchFamily="18" charset="0"/>
                <a:cs typeface="Times New Roman" panose="02020603050405020304" pitchFamily="18" charset="0"/>
              </a:rPr>
              <a:t>- Current options often create a trade-off:</a:t>
            </a:r>
            <a:endParaRPr lang="en-US" sz="2400" dirty="0">
              <a:latin typeface="Times New Roman" panose="02020603050405020304" pitchFamily="18" charset="0"/>
              <a:cs typeface="Times New Roman" panose="02020603050405020304" pitchFamily="18" charset="0"/>
            </a:endParaRPr>
          </a:p>
        </p:txBody>
      </p:sp>
      <p:sp>
        <p:nvSpPr>
          <p:cNvPr id="8" name="Text 6"/>
          <p:cNvSpPr/>
          <p:nvPr/>
        </p:nvSpPr>
        <p:spPr>
          <a:xfrm>
            <a:off x="6095847" y="2012370"/>
            <a:ext cx="1473220" cy="50551"/>
          </a:xfrm>
          <a:prstGeom prst="rect">
            <a:avLst/>
          </a:prstGeom>
          <a:noFill/>
          <a:ln/>
        </p:spPr>
        <p:txBody>
          <a:bodyPr wrap="square" lIns="0" tIns="0" rIns="0" bIns="0" rtlCol="0" anchor="ctr">
            <a:noAutofit/>
          </a:bodyPr>
          <a:lstStyle/>
          <a:p>
            <a:pPr marL="0" indent="0" algn="ctr">
              <a:buNone/>
            </a:pPr>
            <a:r>
              <a:rPr lang="en-US" sz="2400" b="1" dirty="0">
                <a:solidFill>
                  <a:srgbClr val="0369A1"/>
                </a:solidFill>
              </a:rPr>
              <a:t>Powerful</a:t>
            </a:r>
            <a:endParaRPr lang="en-US" sz="2400" dirty="0"/>
          </a:p>
        </p:txBody>
      </p:sp>
      <p:sp>
        <p:nvSpPr>
          <p:cNvPr id="9" name="Text 7"/>
          <p:cNvSpPr/>
          <p:nvPr/>
        </p:nvSpPr>
        <p:spPr>
          <a:xfrm>
            <a:off x="658367" y="2354839"/>
            <a:ext cx="8718546" cy="502920"/>
          </a:xfrm>
          <a:prstGeom prst="rect">
            <a:avLst/>
          </a:prstGeom>
          <a:noFill/>
          <a:ln/>
        </p:spPr>
        <p:txBody>
          <a:bodyPr wrap="square" lIns="0" tIns="0" rIns="0" bIns="0" rtlCol="0" anchor="ctr">
            <a:noAutofit/>
          </a:bodyPr>
          <a:lstStyle/>
          <a:p>
            <a:pPr marL="0" indent="0">
              <a:buNone/>
            </a:pPr>
            <a:r>
              <a:rPr lang="en-US" sz="2400" dirty="0">
                <a:solidFill>
                  <a:srgbClr val="1E293B"/>
                </a:solidFill>
                <a:latin typeface="Times New Roman" panose="02020603050405020304" pitchFamily="18" charset="0"/>
                <a:cs typeface="Times New Roman" panose="02020603050405020304" pitchFamily="18" charset="0"/>
              </a:rPr>
              <a:t>- Professional simulation software can be </a:t>
            </a:r>
            <a:r>
              <a:rPr lang="en-US" sz="2400" dirty="0" err="1">
                <a:solidFill>
                  <a:srgbClr val="1E293B"/>
                </a:solidFill>
                <a:latin typeface="Times New Roman" panose="02020603050405020304" pitchFamily="18" charset="0"/>
                <a:cs typeface="Times New Roman" panose="02020603050405020304" pitchFamily="18" charset="0"/>
              </a:rPr>
              <a:t>complexfor</a:t>
            </a:r>
            <a:r>
              <a:rPr lang="en-US" sz="2400" dirty="0">
                <a:solidFill>
                  <a:srgbClr val="1E293B"/>
                </a:solidFill>
                <a:latin typeface="Times New Roman" panose="02020603050405020304" pitchFamily="18" charset="0"/>
                <a:cs typeface="Times New Roman" panose="02020603050405020304" pitchFamily="18" charset="0"/>
              </a:rPr>
              <a:t> beginners: </a:t>
            </a:r>
            <a:endParaRPr lang="en-US" sz="2400" dirty="0">
              <a:latin typeface="Times New Roman" panose="02020603050405020304" pitchFamily="18" charset="0"/>
              <a:cs typeface="Times New Roman" panose="02020603050405020304" pitchFamily="18" charset="0"/>
            </a:endParaRPr>
          </a:p>
        </p:txBody>
      </p:sp>
      <p:sp>
        <p:nvSpPr>
          <p:cNvPr id="11" name="Text 9"/>
          <p:cNvSpPr/>
          <p:nvPr/>
        </p:nvSpPr>
        <p:spPr>
          <a:xfrm>
            <a:off x="9251828" y="2542291"/>
            <a:ext cx="1194759" cy="128016"/>
          </a:xfrm>
          <a:prstGeom prst="rect">
            <a:avLst/>
          </a:prstGeom>
          <a:noFill/>
          <a:ln/>
        </p:spPr>
        <p:txBody>
          <a:bodyPr wrap="square" lIns="0" tIns="0" rIns="0" bIns="0" rtlCol="0" anchor="ctr">
            <a:noAutofit/>
          </a:bodyPr>
          <a:lstStyle/>
          <a:p>
            <a:pPr marL="0" indent="0" algn="ctr">
              <a:buNone/>
            </a:pPr>
            <a:r>
              <a:rPr lang="en-US" sz="2400" b="1" dirty="0">
                <a:solidFill>
                  <a:srgbClr val="0369A1"/>
                </a:solidFill>
              </a:rPr>
              <a:t>Simple</a:t>
            </a:r>
            <a:endParaRPr lang="en-US" sz="2400" dirty="0"/>
          </a:p>
        </p:txBody>
      </p:sp>
      <p:sp>
        <p:nvSpPr>
          <p:cNvPr id="12" name="Text 10"/>
          <p:cNvSpPr/>
          <p:nvPr/>
        </p:nvSpPr>
        <p:spPr>
          <a:xfrm>
            <a:off x="658368" y="2956532"/>
            <a:ext cx="8977338" cy="502920"/>
          </a:xfrm>
          <a:prstGeom prst="rect">
            <a:avLst/>
          </a:prstGeom>
          <a:noFill/>
          <a:ln/>
        </p:spPr>
        <p:txBody>
          <a:bodyPr wrap="square" lIns="0" tIns="0" rIns="0" bIns="0" rtlCol="0" anchor="ctr">
            <a:noAutofit/>
          </a:bodyPr>
          <a:lstStyle/>
          <a:p>
            <a:pPr marL="0" indent="0">
              <a:buNone/>
            </a:pPr>
            <a:r>
              <a:rPr lang="en-US" sz="2400" dirty="0">
                <a:solidFill>
                  <a:srgbClr val="1E293B"/>
                </a:solidFill>
                <a:latin typeface="Times New Roman" panose="02020603050405020304" pitchFamily="18" charset="0"/>
                <a:cs typeface="Times New Roman" panose="02020603050405020304" pitchFamily="18" charset="0"/>
              </a:rPr>
              <a:t>- Simpler tools may not explain the solution process clearly enough.</a:t>
            </a:r>
            <a:endParaRPr lang="en-US" sz="2400" dirty="0">
              <a:latin typeface="Times New Roman" panose="02020603050405020304" pitchFamily="18" charset="0"/>
              <a:cs typeface="Times New Roman" panose="02020603050405020304" pitchFamily="18" charset="0"/>
            </a:endParaRPr>
          </a:p>
        </p:txBody>
      </p:sp>
      <p:sp>
        <p:nvSpPr>
          <p:cNvPr id="13" name="Shape 11"/>
          <p:cNvSpPr/>
          <p:nvPr/>
        </p:nvSpPr>
        <p:spPr>
          <a:xfrm>
            <a:off x="698910" y="3745677"/>
            <a:ext cx="6538651" cy="1331744"/>
          </a:xfrm>
          <a:prstGeom prst="roundRect">
            <a:avLst>
              <a:gd name="adj" fmla="val 10811"/>
            </a:avLst>
          </a:prstGeom>
          <a:solidFill>
            <a:srgbClr val="0F172A"/>
          </a:solidFill>
          <a:ln w="12700">
            <a:solidFill>
              <a:srgbClr val="0F172A">
                <a:alpha val="0"/>
              </a:srgbClr>
            </a:solidFill>
            <a:prstDash val="solid"/>
          </a:ln>
        </p:spPr>
        <p:txBody>
          <a:bodyPr/>
          <a:lstStyle/>
          <a:p>
            <a:endParaRPr lang="en-US"/>
          </a:p>
        </p:txBody>
      </p:sp>
      <p:sp>
        <p:nvSpPr>
          <p:cNvPr id="14" name="Text 12"/>
          <p:cNvSpPr/>
          <p:nvPr/>
        </p:nvSpPr>
        <p:spPr>
          <a:xfrm>
            <a:off x="898527" y="4130067"/>
            <a:ext cx="6149254" cy="528197"/>
          </a:xfrm>
          <a:prstGeom prst="rect">
            <a:avLst/>
          </a:prstGeom>
          <a:noFill/>
          <a:ln/>
        </p:spPr>
        <p:txBody>
          <a:bodyPr wrap="square" lIns="0" tIns="0" rIns="0" bIns="0" rtlCol="0" anchor="ctr">
            <a:noAutofit/>
          </a:bodyPr>
          <a:lstStyle/>
          <a:p>
            <a:pPr marL="0" indent="0">
              <a:buNone/>
            </a:pPr>
            <a:r>
              <a:rPr lang="en-US" sz="2000" b="1" dirty="0">
                <a:solidFill>
                  <a:srgbClr val="FFFFFF"/>
                </a:solidFill>
                <a:latin typeface="Times New Roman" panose="02020603050405020304" pitchFamily="18" charset="0"/>
                <a:cs typeface="Times New Roman" panose="02020603050405020304" pitchFamily="18" charset="0"/>
              </a:rPr>
              <a:t>Our question: Can we build a simple, intuitive tool that helps students draw circuits, check them, and understand the solving process?</a:t>
            </a:r>
            <a:endParaRPr lang="en-US" sz="2000" dirty="0">
              <a:latin typeface="Times New Roman" panose="02020603050405020304" pitchFamily="18" charset="0"/>
              <a:cs typeface="Times New Roman" panose="02020603050405020304" pitchFamily="18" charset="0"/>
            </a:endParaRPr>
          </a:p>
        </p:txBody>
      </p:sp>
      <p:sp>
        <p:nvSpPr>
          <p:cNvPr id="17" name="Text 15"/>
          <p:cNvSpPr/>
          <p:nvPr/>
        </p:nvSpPr>
        <p:spPr>
          <a:xfrm>
            <a:off x="594360" y="6473952"/>
            <a:ext cx="292608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PEE Project | 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A5E9"/>
          </a:solidFill>
          <a:ln w="12700">
            <a:solidFill>
              <a:srgbClr val="0EA5E9">
                <a:alpha val="0"/>
              </a:srgbClr>
            </a:solidFill>
            <a:prstDash val="solid"/>
          </a:ln>
        </p:spPr>
        <p:txBody>
          <a:bodyPr/>
          <a:lstStyle/>
          <a:p>
            <a:endParaRPr lang="en-US"/>
          </a:p>
        </p:txBody>
      </p:sp>
      <p:sp>
        <p:nvSpPr>
          <p:cNvPr id="3" name="Text 1"/>
          <p:cNvSpPr/>
          <p:nvPr/>
        </p:nvSpPr>
        <p:spPr>
          <a:xfrm>
            <a:off x="594360" y="502920"/>
            <a:ext cx="8961120" cy="475488"/>
          </a:xfrm>
          <a:prstGeom prst="rect">
            <a:avLst/>
          </a:prstGeom>
          <a:noFill/>
          <a:ln/>
        </p:spPr>
        <p:txBody>
          <a:bodyPr wrap="square" lIns="0" tIns="0" rIns="0" bIns="0" rtlCol="0" anchor="ctr">
            <a:normAutofit/>
          </a:bodyPr>
          <a:lstStyle/>
          <a:p>
            <a:pPr marL="0" indent="0">
              <a:buNone/>
            </a:pPr>
            <a:r>
              <a:rPr lang="en-US" sz="3000" b="1" dirty="0">
                <a:solidFill>
                  <a:srgbClr val="0F172A"/>
                </a:solidFill>
                <a:latin typeface="Times New Roman" panose="02020603050405020304" pitchFamily="18" charset="0"/>
                <a:ea typeface="Aptos Display" pitchFamily="34" charset="-122"/>
                <a:cs typeface="Times New Roman" panose="02020603050405020304" pitchFamily="18" charset="0"/>
              </a:rPr>
              <a:t>Project solution</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621792" y="1024128"/>
            <a:ext cx="7772400" cy="256032"/>
          </a:xfrm>
          <a:prstGeom prst="rect">
            <a:avLst/>
          </a:prstGeom>
          <a:noFill/>
          <a:ln/>
        </p:spPr>
        <p:txBody>
          <a:bodyPr wrap="square" lIns="0" tIns="0" rIns="0" bIns="0" rtlCol="0" anchor="ctr">
            <a:noAutofit/>
          </a:bodyPr>
          <a:lstStyle/>
          <a:p>
            <a:pPr marL="0" indent="0">
              <a:buNone/>
            </a:pPr>
            <a:r>
              <a:rPr lang="en-US" dirty="0">
                <a:solidFill>
                  <a:srgbClr val="0369A1"/>
                </a:solidFill>
                <a:latin typeface="Times New Roman" panose="02020603050405020304" pitchFamily="18" charset="0"/>
                <a:cs typeface="Times New Roman" panose="02020603050405020304" pitchFamily="18" charset="0"/>
              </a:rPr>
              <a:t>A learning workflow built around drawing, checking, analysis, and explanation.</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612648" y="1389888"/>
            <a:ext cx="5303520" cy="374904"/>
          </a:xfrm>
          <a:prstGeom prst="rect">
            <a:avLst/>
          </a:prstGeom>
          <a:noFill/>
          <a:ln/>
        </p:spPr>
        <p:txBody>
          <a:bodyPr wrap="square" lIns="0" tIns="0" rIns="0" bIns="0" rtlCol="0" anchor="ctr">
            <a:noAutofit/>
          </a:bodyPr>
          <a:lstStyle/>
          <a:p>
            <a:pPr marL="0" indent="0">
              <a:buNone/>
            </a:pPr>
            <a:r>
              <a:rPr lang="en-US" sz="2000" b="1" dirty="0">
                <a:solidFill>
                  <a:srgbClr val="0369A1"/>
                </a:solidFill>
                <a:latin typeface="Times New Roman" panose="02020603050405020304" pitchFamily="18" charset="0"/>
                <a:cs typeface="Times New Roman" panose="02020603050405020304" pitchFamily="18" charset="0"/>
              </a:rPr>
              <a:t>2. SOLUTION AND FEATURES</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658368" y="1828800"/>
            <a:ext cx="6126480" cy="384048"/>
          </a:xfrm>
          <a:prstGeom prst="rect">
            <a:avLst/>
          </a:prstGeom>
          <a:noFill/>
          <a:ln/>
        </p:spPr>
        <p:txBody>
          <a:bodyPr wrap="square" lIns="0" tIns="0" rIns="0" bIns="0" rtlCol="0" anchor="ctr">
            <a:normAutofit/>
          </a:bodyPr>
          <a:lstStyle/>
          <a:p>
            <a:pPr marL="0" indent="0">
              <a:buNone/>
            </a:pPr>
            <a:r>
              <a:rPr lang="en-US" sz="1800" dirty="0">
                <a:solidFill>
                  <a:srgbClr val="1E293B"/>
                </a:solidFill>
                <a:latin typeface="Times New Roman" panose="02020603050405020304" pitchFamily="18" charset="0"/>
                <a:cs typeface="Times New Roman" panose="02020603050405020304" pitchFamily="18" charset="0"/>
              </a:rPr>
              <a:t>The application is designed around one practical learning flow:</a:t>
            </a:r>
            <a:endParaRPr lang="en-US" sz="1800" dirty="0">
              <a:latin typeface="Times New Roman" panose="02020603050405020304" pitchFamily="18" charset="0"/>
              <a:cs typeface="Times New Roman" panose="02020603050405020304" pitchFamily="18" charset="0"/>
            </a:endParaRPr>
          </a:p>
        </p:txBody>
      </p:sp>
      <p:sp>
        <p:nvSpPr>
          <p:cNvPr id="7" name="Shape 5"/>
          <p:cNvSpPr/>
          <p:nvPr/>
        </p:nvSpPr>
        <p:spPr>
          <a:xfrm>
            <a:off x="713232" y="2880360"/>
            <a:ext cx="2057400" cy="694944"/>
          </a:xfrm>
          <a:prstGeom prst="roundRect">
            <a:avLst>
              <a:gd name="adj" fmla="val 19737"/>
            </a:avLst>
          </a:prstGeom>
          <a:solidFill>
            <a:srgbClr val="FFFFFF"/>
          </a:solidFill>
          <a:ln w="15240">
            <a:solidFill>
              <a:srgbClr val="0EA5E9"/>
            </a:solidFill>
            <a:prstDash val="solid"/>
          </a:ln>
        </p:spPr>
        <p:txBody>
          <a:bodyPr/>
          <a:lstStyle/>
          <a:p>
            <a:endParaRPr lang="en-US"/>
          </a:p>
        </p:txBody>
      </p:sp>
      <p:sp>
        <p:nvSpPr>
          <p:cNvPr id="8" name="Text 6"/>
          <p:cNvSpPr/>
          <p:nvPr/>
        </p:nvSpPr>
        <p:spPr>
          <a:xfrm>
            <a:off x="786384" y="3108960"/>
            <a:ext cx="1911096" cy="182880"/>
          </a:xfrm>
          <a:prstGeom prst="rect">
            <a:avLst/>
          </a:prstGeom>
          <a:noFill/>
          <a:ln/>
        </p:spPr>
        <p:txBody>
          <a:bodyPr wrap="square" lIns="0" tIns="0" rIns="0" bIns="0" rtlCol="0" anchor="ctr">
            <a:normAutofit fontScale="92500" lnSpcReduction="20000"/>
          </a:bodyPr>
          <a:lstStyle/>
          <a:p>
            <a:pPr marL="0" indent="0" algn="ctr">
              <a:buNone/>
            </a:pPr>
            <a:r>
              <a:rPr lang="en-US" sz="1500" b="1" dirty="0">
                <a:solidFill>
                  <a:srgbClr val="1E293B"/>
                </a:solidFill>
              </a:rPr>
              <a:t>Draw Circuit</a:t>
            </a:r>
            <a:endParaRPr lang="en-US" sz="1500" dirty="0"/>
          </a:p>
        </p:txBody>
      </p:sp>
      <p:sp>
        <p:nvSpPr>
          <p:cNvPr id="9" name="Text 7"/>
          <p:cNvSpPr/>
          <p:nvPr/>
        </p:nvSpPr>
        <p:spPr>
          <a:xfrm>
            <a:off x="2779776" y="3063240"/>
            <a:ext cx="320040" cy="256032"/>
          </a:xfrm>
          <a:prstGeom prst="rect">
            <a:avLst/>
          </a:prstGeom>
          <a:noFill/>
          <a:ln/>
        </p:spPr>
        <p:txBody>
          <a:bodyPr wrap="square" lIns="0" tIns="0" rIns="0" bIns="0" rtlCol="0" anchor="ctr"/>
          <a:lstStyle/>
          <a:p>
            <a:pPr marL="0" indent="0" algn="ctr">
              <a:buNone/>
            </a:pPr>
            <a:r>
              <a:rPr lang="en-US" sz="2400" b="1" dirty="0">
                <a:solidFill>
                  <a:srgbClr val="0EA5E9"/>
                </a:solidFill>
              </a:rPr>
              <a:t>→</a:t>
            </a:r>
            <a:endParaRPr lang="en-US" sz="2400" dirty="0"/>
          </a:p>
        </p:txBody>
      </p:sp>
      <p:sp>
        <p:nvSpPr>
          <p:cNvPr id="10" name="Shape 8"/>
          <p:cNvSpPr/>
          <p:nvPr/>
        </p:nvSpPr>
        <p:spPr>
          <a:xfrm>
            <a:off x="3154680" y="2880360"/>
            <a:ext cx="2057400" cy="694944"/>
          </a:xfrm>
          <a:prstGeom prst="roundRect">
            <a:avLst>
              <a:gd name="adj" fmla="val 19737"/>
            </a:avLst>
          </a:prstGeom>
          <a:solidFill>
            <a:srgbClr val="FFFFFF"/>
          </a:solidFill>
          <a:ln w="15240">
            <a:solidFill>
              <a:srgbClr val="0EA5E9"/>
            </a:solidFill>
            <a:prstDash val="solid"/>
          </a:ln>
        </p:spPr>
        <p:txBody>
          <a:bodyPr/>
          <a:lstStyle/>
          <a:p>
            <a:endParaRPr lang="en-US"/>
          </a:p>
        </p:txBody>
      </p:sp>
      <p:sp>
        <p:nvSpPr>
          <p:cNvPr id="11" name="Text 9"/>
          <p:cNvSpPr/>
          <p:nvPr/>
        </p:nvSpPr>
        <p:spPr>
          <a:xfrm>
            <a:off x="3227832" y="3108960"/>
            <a:ext cx="1911096" cy="182880"/>
          </a:xfrm>
          <a:prstGeom prst="rect">
            <a:avLst/>
          </a:prstGeom>
          <a:noFill/>
          <a:ln/>
        </p:spPr>
        <p:txBody>
          <a:bodyPr wrap="square" lIns="0" tIns="0" rIns="0" bIns="0" rtlCol="0" anchor="ctr">
            <a:normAutofit fontScale="92500" lnSpcReduction="20000"/>
          </a:bodyPr>
          <a:lstStyle/>
          <a:p>
            <a:pPr marL="0" indent="0" algn="ctr">
              <a:buNone/>
            </a:pPr>
            <a:r>
              <a:rPr lang="en-US" sz="1500" b="1" dirty="0">
                <a:solidFill>
                  <a:srgbClr val="1E293B"/>
                </a:solidFill>
              </a:rPr>
              <a:t>Check</a:t>
            </a:r>
            <a:endParaRPr lang="en-US" sz="1500" dirty="0"/>
          </a:p>
        </p:txBody>
      </p:sp>
      <p:sp>
        <p:nvSpPr>
          <p:cNvPr id="12" name="Text 10"/>
          <p:cNvSpPr/>
          <p:nvPr/>
        </p:nvSpPr>
        <p:spPr>
          <a:xfrm>
            <a:off x="5221224" y="3063240"/>
            <a:ext cx="320040" cy="256032"/>
          </a:xfrm>
          <a:prstGeom prst="rect">
            <a:avLst/>
          </a:prstGeom>
          <a:noFill/>
          <a:ln/>
        </p:spPr>
        <p:txBody>
          <a:bodyPr wrap="square" lIns="0" tIns="0" rIns="0" bIns="0" rtlCol="0" anchor="ctr"/>
          <a:lstStyle/>
          <a:p>
            <a:pPr marL="0" indent="0" algn="ctr">
              <a:buNone/>
            </a:pPr>
            <a:r>
              <a:rPr lang="en-US" sz="2400" b="1" dirty="0">
                <a:solidFill>
                  <a:srgbClr val="0EA5E9"/>
                </a:solidFill>
              </a:rPr>
              <a:t>→</a:t>
            </a:r>
            <a:endParaRPr lang="en-US" sz="2400" dirty="0"/>
          </a:p>
        </p:txBody>
      </p:sp>
      <p:sp>
        <p:nvSpPr>
          <p:cNvPr id="13" name="Shape 11"/>
          <p:cNvSpPr/>
          <p:nvPr/>
        </p:nvSpPr>
        <p:spPr>
          <a:xfrm>
            <a:off x="5596128" y="2880360"/>
            <a:ext cx="2057400" cy="694944"/>
          </a:xfrm>
          <a:prstGeom prst="roundRect">
            <a:avLst>
              <a:gd name="adj" fmla="val 19737"/>
            </a:avLst>
          </a:prstGeom>
          <a:solidFill>
            <a:srgbClr val="FFFFFF"/>
          </a:solidFill>
          <a:ln w="15240">
            <a:solidFill>
              <a:srgbClr val="0EA5E9"/>
            </a:solidFill>
            <a:prstDash val="solid"/>
          </a:ln>
        </p:spPr>
        <p:txBody>
          <a:bodyPr/>
          <a:lstStyle/>
          <a:p>
            <a:endParaRPr lang="en-US"/>
          </a:p>
        </p:txBody>
      </p:sp>
      <p:sp>
        <p:nvSpPr>
          <p:cNvPr id="14" name="Text 12"/>
          <p:cNvSpPr/>
          <p:nvPr/>
        </p:nvSpPr>
        <p:spPr>
          <a:xfrm>
            <a:off x="5669280" y="3108960"/>
            <a:ext cx="1911096" cy="182880"/>
          </a:xfrm>
          <a:prstGeom prst="rect">
            <a:avLst/>
          </a:prstGeom>
          <a:noFill/>
          <a:ln/>
        </p:spPr>
        <p:txBody>
          <a:bodyPr wrap="square" lIns="0" tIns="0" rIns="0" bIns="0" rtlCol="0" anchor="ctr">
            <a:normAutofit fontScale="92500" lnSpcReduction="20000"/>
          </a:bodyPr>
          <a:lstStyle/>
          <a:p>
            <a:pPr marL="0" indent="0" algn="ctr">
              <a:buNone/>
            </a:pPr>
            <a:r>
              <a:rPr lang="en-US" sz="1500" b="1" dirty="0">
                <a:solidFill>
                  <a:srgbClr val="1E293B"/>
                </a:solidFill>
              </a:rPr>
              <a:t>Analyze</a:t>
            </a:r>
            <a:endParaRPr lang="en-US" sz="1500" dirty="0"/>
          </a:p>
        </p:txBody>
      </p:sp>
      <p:sp>
        <p:nvSpPr>
          <p:cNvPr id="15" name="Text 13"/>
          <p:cNvSpPr/>
          <p:nvPr/>
        </p:nvSpPr>
        <p:spPr>
          <a:xfrm>
            <a:off x="7662672" y="3063240"/>
            <a:ext cx="320040" cy="256032"/>
          </a:xfrm>
          <a:prstGeom prst="rect">
            <a:avLst/>
          </a:prstGeom>
          <a:noFill/>
          <a:ln/>
        </p:spPr>
        <p:txBody>
          <a:bodyPr wrap="square" lIns="0" tIns="0" rIns="0" bIns="0" rtlCol="0" anchor="ctr"/>
          <a:lstStyle/>
          <a:p>
            <a:pPr marL="0" indent="0" algn="ctr">
              <a:buNone/>
            </a:pPr>
            <a:r>
              <a:rPr lang="en-US" sz="2400" b="1" dirty="0">
                <a:solidFill>
                  <a:srgbClr val="0EA5E9"/>
                </a:solidFill>
              </a:rPr>
              <a:t>→</a:t>
            </a:r>
            <a:endParaRPr lang="en-US" sz="2400" dirty="0"/>
          </a:p>
        </p:txBody>
      </p:sp>
      <p:sp>
        <p:nvSpPr>
          <p:cNvPr id="16" name="Shape 14"/>
          <p:cNvSpPr/>
          <p:nvPr/>
        </p:nvSpPr>
        <p:spPr>
          <a:xfrm>
            <a:off x="8028432" y="2880360"/>
            <a:ext cx="2057400" cy="694944"/>
          </a:xfrm>
          <a:prstGeom prst="roundRect">
            <a:avLst>
              <a:gd name="adj" fmla="val 19737"/>
            </a:avLst>
          </a:prstGeom>
          <a:solidFill>
            <a:srgbClr val="FFFFFF"/>
          </a:solidFill>
          <a:ln w="15240">
            <a:solidFill>
              <a:srgbClr val="0EA5E9"/>
            </a:solidFill>
            <a:prstDash val="solid"/>
          </a:ln>
        </p:spPr>
        <p:txBody>
          <a:bodyPr/>
          <a:lstStyle/>
          <a:p>
            <a:endParaRPr lang="en-US"/>
          </a:p>
        </p:txBody>
      </p:sp>
      <p:sp>
        <p:nvSpPr>
          <p:cNvPr id="17" name="Text 15"/>
          <p:cNvSpPr/>
          <p:nvPr/>
        </p:nvSpPr>
        <p:spPr>
          <a:xfrm>
            <a:off x="8101584" y="3108960"/>
            <a:ext cx="1911096" cy="182880"/>
          </a:xfrm>
          <a:prstGeom prst="rect">
            <a:avLst/>
          </a:prstGeom>
          <a:noFill/>
          <a:ln/>
        </p:spPr>
        <p:txBody>
          <a:bodyPr wrap="square" lIns="0" tIns="0" rIns="0" bIns="0" rtlCol="0" anchor="ctr">
            <a:normAutofit fontScale="92500" lnSpcReduction="20000"/>
          </a:bodyPr>
          <a:lstStyle/>
          <a:p>
            <a:pPr marL="0" indent="0" algn="ctr">
              <a:buNone/>
            </a:pPr>
            <a:r>
              <a:rPr lang="en-US" sz="1500" b="1" dirty="0">
                <a:solidFill>
                  <a:srgbClr val="1E293B"/>
                </a:solidFill>
              </a:rPr>
              <a:t>Explain</a:t>
            </a:r>
            <a:endParaRPr lang="en-US" sz="1500" dirty="0"/>
          </a:p>
        </p:txBody>
      </p:sp>
      <p:sp>
        <p:nvSpPr>
          <p:cNvPr id="18" name="Text 16"/>
          <p:cNvSpPr/>
          <p:nvPr/>
        </p:nvSpPr>
        <p:spPr>
          <a:xfrm>
            <a:off x="1116775" y="3982471"/>
            <a:ext cx="9312561" cy="813816"/>
          </a:xfrm>
          <a:prstGeom prst="rect">
            <a:avLst/>
          </a:prstGeom>
          <a:noFill/>
          <a:ln/>
        </p:spPr>
        <p:txBody>
          <a:bodyPr wrap="square" lIns="0" tIns="0" rIns="0" bIns="0" rtlCol="0" anchor="ctr">
            <a:normAutofit/>
          </a:bodyPr>
          <a:lstStyle/>
          <a:p>
            <a:pPr marL="0" indent="0">
              <a:buNone/>
            </a:pPr>
            <a:r>
              <a:rPr lang="en-US" sz="2400" dirty="0">
                <a:solidFill>
                  <a:srgbClr val="1E293B"/>
                </a:solidFill>
                <a:latin typeface="Times New Roman" panose="02020603050405020304" pitchFamily="18" charset="0"/>
                <a:cs typeface="Times New Roman" panose="02020603050405020304" pitchFamily="18" charset="0"/>
              </a:rPr>
              <a:t>Instead of only producing an answer, the system guides students through the structure and reasoning behind the circuit problem.</a:t>
            </a:r>
            <a:endParaRPr lang="en-US" sz="2400" dirty="0">
              <a:latin typeface="Times New Roman" panose="02020603050405020304" pitchFamily="18" charset="0"/>
              <a:cs typeface="Times New Roman" panose="02020603050405020304" pitchFamily="18" charset="0"/>
            </a:endParaRPr>
          </a:p>
        </p:txBody>
      </p:sp>
      <p:sp>
        <p:nvSpPr>
          <p:cNvPr id="21" name="Text 19"/>
          <p:cNvSpPr/>
          <p:nvPr/>
        </p:nvSpPr>
        <p:spPr>
          <a:xfrm>
            <a:off x="594360" y="6473952"/>
            <a:ext cx="292608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PEE Project | 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A5E9"/>
          </a:solidFill>
          <a:ln w="12700">
            <a:solidFill>
              <a:srgbClr val="0EA5E9">
                <a:alpha val="0"/>
              </a:srgbClr>
            </a:solidFill>
            <a:prstDash val="solid"/>
          </a:ln>
        </p:spPr>
        <p:txBody>
          <a:bodyPr/>
          <a:lstStyle/>
          <a:p>
            <a:endParaRPr lang="en-US"/>
          </a:p>
        </p:txBody>
      </p:sp>
      <p:sp>
        <p:nvSpPr>
          <p:cNvPr id="3" name="Text 1"/>
          <p:cNvSpPr/>
          <p:nvPr/>
        </p:nvSpPr>
        <p:spPr>
          <a:xfrm>
            <a:off x="339707" y="404388"/>
            <a:ext cx="8961120" cy="475488"/>
          </a:xfrm>
          <a:prstGeom prst="rect">
            <a:avLst/>
          </a:prstGeom>
          <a:noFill/>
          <a:ln/>
        </p:spPr>
        <p:txBody>
          <a:bodyPr wrap="square" lIns="0" tIns="0" rIns="0" bIns="0" rtlCol="0" anchor="ctr">
            <a:normAutofit/>
          </a:bodyPr>
          <a:lstStyle/>
          <a:p>
            <a:pPr marL="0" indent="0">
              <a:buNone/>
            </a:pPr>
            <a:r>
              <a:rPr lang="en-US" sz="3000" b="1" dirty="0">
                <a:solidFill>
                  <a:srgbClr val="0F172A"/>
                </a:solidFill>
                <a:latin typeface="Times New Roman" panose="02020603050405020304" pitchFamily="18" charset="0"/>
                <a:ea typeface="Aptos Display" pitchFamily="34" charset="-122"/>
                <a:cs typeface="Times New Roman" panose="02020603050405020304" pitchFamily="18" charset="0"/>
              </a:rPr>
              <a:t>Main features</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432010" y="1110996"/>
            <a:ext cx="4735213" cy="280359"/>
          </a:xfrm>
          <a:prstGeom prst="rect">
            <a:avLst/>
          </a:prstGeom>
          <a:noFill/>
          <a:ln/>
        </p:spPr>
        <p:txBody>
          <a:bodyPr wrap="square" lIns="0" tIns="0" rIns="0" bIns="0" rtlCol="0" anchor="ctr">
            <a:noAutofit/>
          </a:bodyPr>
          <a:lstStyle/>
          <a:p>
            <a:pPr marL="0" indent="0">
              <a:buNone/>
            </a:pPr>
            <a:r>
              <a:rPr lang="en-US" dirty="0">
                <a:solidFill>
                  <a:srgbClr val="0369A1"/>
                </a:solidFill>
                <a:latin typeface="Times New Roman" panose="02020603050405020304" pitchFamily="18" charset="0"/>
                <a:cs typeface="Times New Roman" panose="02020603050405020304" pitchFamily="18" charset="0"/>
              </a:rPr>
              <a:t>Three functions support students before and during problem solving.</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365759" y="1604341"/>
            <a:ext cx="5303520" cy="201168"/>
          </a:xfrm>
          <a:prstGeom prst="rect">
            <a:avLst/>
          </a:prstGeom>
          <a:noFill/>
          <a:ln/>
        </p:spPr>
        <p:txBody>
          <a:bodyPr wrap="square" lIns="0" tIns="0" rIns="0" bIns="0" rtlCol="0" anchor="ctr">
            <a:noAutofit/>
          </a:bodyPr>
          <a:lstStyle/>
          <a:p>
            <a:pPr marL="0" indent="0">
              <a:buNone/>
            </a:pPr>
            <a:r>
              <a:rPr lang="en-US" sz="2000" b="1" dirty="0">
                <a:solidFill>
                  <a:srgbClr val="0369A1"/>
                </a:solidFill>
                <a:latin typeface="Times New Roman" panose="02020603050405020304" pitchFamily="18" charset="0"/>
                <a:cs typeface="Times New Roman" panose="02020603050405020304" pitchFamily="18" charset="0"/>
              </a:rPr>
              <a:t>2. SOLUTION AND FEATURES </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713232" y="1920240"/>
            <a:ext cx="256032" cy="256032"/>
          </a:xfrm>
          <a:prstGeom prst="rect">
            <a:avLst/>
          </a:prstGeom>
          <a:noFill/>
          <a:ln/>
        </p:spPr>
        <p:txBody>
          <a:bodyPr wrap="square" lIns="0" tIns="0" rIns="0" bIns="0" rtlCol="0" anchor="ctr"/>
          <a:lstStyle/>
          <a:p>
            <a:pPr marL="0" indent="0">
              <a:buNone/>
            </a:pPr>
            <a:r>
              <a:rPr lang="en-US" sz="1700" b="1" dirty="0">
                <a:solidFill>
                  <a:srgbClr val="0369A1"/>
                </a:solidFill>
              </a:rPr>
              <a:t>1</a:t>
            </a:r>
            <a:endParaRPr lang="en-US" sz="1700" dirty="0"/>
          </a:p>
        </p:txBody>
      </p:sp>
      <p:sp>
        <p:nvSpPr>
          <p:cNvPr id="7" name="Text 5"/>
          <p:cNvSpPr/>
          <p:nvPr/>
        </p:nvSpPr>
        <p:spPr>
          <a:xfrm>
            <a:off x="1051560" y="1901952"/>
            <a:ext cx="4389120" cy="274320"/>
          </a:xfrm>
          <a:prstGeom prst="rect">
            <a:avLst/>
          </a:prstGeom>
          <a:noFill/>
          <a:ln/>
        </p:spPr>
        <p:txBody>
          <a:bodyPr wrap="square" lIns="0" tIns="0" rIns="0" bIns="0" rtlCol="0" anchor="ctr"/>
          <a:lstStyle/>
          <a:p>
            <a:pPr marL="0" indent="0">
              <a:buNone/>
            </a:pPr>
            <a:r>
              <a:rPr lang="en-US" sz="1800" b="1" dirty="0">
                <a:solidFill>
                  <a:srgbClr val="0F172A"/>
                </a:solidFill>
                <a:latin typeface="Times New Roman" panose="02020603050405020304" pitchFamily="18" charset="0"/>
                <a:cs typeface="Times New Roman" panose="02020603050405020304" pitchFamily="18" charset="0"/>
              </a:rPr>
              <a:t>Interactive circuit drawing</a:t>
            </a:r>
            <a:endParaRPr lang="en-US" sz="1800" dirty="0">
              <a:latin typeface="Times New Roman" panose="02020603050405020304" pitchFamily="18" charset="0"/>
              <a:cs typeface="Times New Roman" panose="02020603050405020304" pitchFamily="18" charset="0"/>
            </a:endParaRPr>
          </a:p>
        </p:txBody>
      </p:sp>
      <p:sp>
        <p:nvSpPr>
          <p:cNvPr id="8" name="Text 6"/>
          <p:cNvSpPr/>
          <p:nvPr/>
        </p:nvSpPr>
        <p:spPr>
          <a:xfrm>
            <a:off x="621792" y="2275993"/>
            <a:ext cx="4617720" cy="594360"/>
          </a:xfrm>
          <a:prstGeom prst="rect">
            <a:avLst/>
          </a:prstGeom>
          <a:noFill/>
          <a:ln/>
        </p:spPr>
        <p:txBody>
          <a:bodyPr wrap="square" lIns="0" tIns="0" rIns="0" bIns="0" rtlCol="0" anchor="ctr">
            <a:normAutofit/>
          </a:bodyPr>
          <a:lstStyle/>
          <a:p>
            <a:pPr marL="0" indent="0">
              <a:buNone/>
            </a:pPr>
            <a:r>
              <a:rPr lang="en-US" dirty="0">
                <a:solidFill>
                  <a:srgbClr val="1E293B"/>
                </a:solidFill>
                <a:latin typeface="Times New Roman" panose="02020603050405020304" pitchFamily="18" charset="0"/>
                <a:cs typeface="Times New Roman" panose="02020603050405020304" pitchFamily="18" charset="0"/>
              </a:rPr>
              <a:t>Place components on a grid Canvas, rotate them, edit values, zoom, undo, and connect wires.</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713232" y="3264408"/>
            <a:ext cx="256032" cy="256032"/>
          </a:xfrm>
          <a:prstGeom prst="rect">
            <a:avLst/>
          </a:prstGeom>
          <a:noFill/>
          <a:ln/>
        </p:spPr>
        <p:txBody>
          <a:bodyPr wrap="square" lIns="0" tIns="0" rIns="0" bIns="0" rtlCol="0" anchor="ctr"/>
          <a:lstStyle/>
          <a:p>
            <a:pPr marL="0" indent="0">
              <a:buNone/>
            </a:pPr>
            <a:r>
              <a:rPr lang="en-US" sz="1700" b="1" dirty="0">
                <a:solidFill>
                  <a:srgbClr val="0369A1"/>
                </a:solidFill>
              </a:rPr>
              <a:t>2</a:t>
            </a:r>
            <a:endParaRPr lang="en-US" sz="1700" dirty="0"/>
          </a:p>
        </p:txBody>
      </p:sp>
      <p:sp>
        <p:nvSpPr>
          <p:cNvPr id="10" name="Text 8"/>
          <p:cNvSpPr/>
          <p:nvPr/>
        </p:nvSpPr>
        <p:spPr>
          <a:xfrm>
            <a:off x="1051560" y="3246120"/>
            <a:ext cx="4389120" cy="274320"/>
          </a:xfrm>
          <a:prstGeom prst="rect">
            <a:avLst/>
          </a:prstGeom>
          <a:noFill/>
          <a:ln/>
        </p:spPr>
        <p:txBody>
          <a:bodyPr wrap="square" lIns="0" tIns="0" rIns="0" bIns="0" rtlCol="0" anchor="ctr"/>
          <a:lstStyle/>
          <a:p>
            <a:pPr marL="0" indent="0">
              <a:buNone/>
            </a:pPr>
            <a:r>
              <a:rPr lang="en-US" sz="1800" b="1" dirty="0">
                <a:solidFill>
                  <a:srgbClr val="0F172A"/>
                </a:solidFill>
                <a:latin typeface="Times New Roman" panose="02020603050405020304" pitchFamily="18" charset="0"/>
                <a:cs typeface="Times New Roman" panose="02020603050405020304" pitchFamily="18" charset="0"/>
              </a:rPr>
              <a:t>Topology check</a:t>
            </a:r>
            <a:endParaRPr lang="en-US" sz="1800" dirty="0">
              <a:latin typeface="Times New Roman" panose="02020603050405020304" pitchFamily="18" charset="0"/>
              <a:cs typeface="Times New Roman" panose="02020603050405020304" pitchFamily="18" charset="0"/>
            </a:endParaRPr>
          </a:p>
        </p:txBody>
      </p:sp>
      <p:sp>
        <p:nvSpPr>
          <p:cNvPr id="11" name="Text 9"/>
          <p:cNvSpPr/>
          <p:nvPr/>
        </p:nvSpPr>
        <p:spPr>
          <a:xfrm>
            <a:off x="624838" y="3643884"/>
            <a:ext cx="4617720" cy="594360"/>
          </a:xfrm>
          <a:prstGeom prst="rect">
            <a:avLst/>
          </a:prstGeom>
          <a:noFill/>
          <a:ln/>
        </p:spPr>
        <p:txBody>
          <a:bodyPr wrap="square" lIns="0" tIns="0" rIns="0" bIns="0" rtlCol="0" anchor="ctr">
            <a:noAutofit/>
          </a:bodyPr>
          <a:lstStyle/>
          <a:p>
            <a:pPr marL="0" indent="0">
              <a:buNone/>
            </a:pPr>
            <a:r>
              <a:rPr lang="en-US" dirty="0">
                <a:solidFill>
                  <a:srgbClr val="1E293B"/>
                </a:solidFill>
                <a:latin typeface="Times New Roman" panose="02020603050405020304" pitchFamily="18" charset="0"/>
                <a:cs typeface="Times New Roman" panose="02020603050405020304" pitchFamily="18" charset="0"/>
              </a:rPr>
              <a:t>Detect basic structure errors such as unconnected components, open terminals, or separated circuit parts.</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13232" y="4608576"/>
            <a:ext cx="256032" cy="256032"/>
          </a:xfrm>
          <a:prstGeom prst="rect">
            <a:avLst/>
          </a:prstGeom>
          <a:noFill/>
          <a:ln/>
        </p:spPr>
        <p:txBody>
          <a:bodyPr wrap="square" lIns="0" tIns="0" rIns="0" bIns="0" rtlCol="0" anchor="ctr"/>
          <a:lstStyle/>
          <a:p>
            <a:pPr marL="0" indent="0">
              <a:buNone/>
            </a:pPr>
            <a:r>
              <a:rPr lang="en-US" sz="1700" b="1" dirty="0">
                <a:solidFill>
                  <a:srgbClr val="0369A1"/>
                </a:solidFill>
              </a:rPr>
              <a:t>3</a:t>
            </a:r>
            <a:endParaRPr lang="en-US" sz="1700" dirty="0"/>
          </a:p>
        </p:txBody>
      </p:sp>
      <p:sp>
        <p:nvSpPr>
          <p:cNvPr id="13" name="Text 11"/>
          <p:cNvSpPr/>
          <p:nvPr/>
        </p:nvSpPr>
        <p:spPr>
          <a:xfrm>
            <a:off x="1051560" y="4590288"/>
            <a:ext cx="4389120" cy="274320"/>
          </a:xfrm>
          <a:prstGeom prst="rect">
            <a:avLst/>
          </a:prstGeom>
          <a:noFill/>
          <a:ln/>
        </p:spPr>
        <p:txBody>
          <a:bodyPr wrap="square" lIns="0" tIns="0" rIns="0" bIns="0" rtlCol="0" anchor="ctr"/>
          <a:lstStyle/>
          <a:p>
            <a:pPr marL="0" indent="0">
              <a:buNone/>
            </a:pPr>
            <a:r>
              <a:rPr lang="en-US" sz="1800" b="1" dirty="0">
                <a:solidFill>
                  <a:srgbClr val="0F172A"/>
                </a:solidFill>
                <a:latin typeface="Times New Roman" panose="02020603050405020304" pitchFamily="18" charset="0"/>
                <a:cs typeface="Times New Roman" panose="02020603050405020304" pitchFamily="18" charset="0"/>
              </a:rPr>
              <a:t>Save and manage circuits</a:t>
            </a:r>
            <a:endParaRPr lang="en-US" sz="1800" dirty="0">
              <a:latin typeface="Times New Roman" panose="02020603050405020304" pitchFamily="18" charset="0"/>
              <a:cs typeface="Times New Roman" panose="02020603050405020304" pitchFamily="18" charset="0"/>
            </a:endParaRPr>
          </a:p>
        </p:txBody>
      </p:sp>
      <p:sp>
        <p:nvSpPr>
          <p:cNvPr id="14" name="Text 12"/>
          <p:cNvSpPr/>
          <p:nvPr/>
        </p:nvSpPr>
        <p:spPr>
          <a:xfrm>
            <a:off x="624838" y="5047488"/>
            <a:ext cx="4617720" cy="475488"/>
          </a:xfrm>
          <a:prstGeom prst="rect">
            <a:avLst/>
          </a:prstGeom>
          <a:noFill/>
          <a:ln/>
        </p:spPr>
        <p:txBody>
          <a:bodyPr wrap="square" lIns="0" tIns="0" rIns="0" bIns="0" rtlCol="0" anchor="ctr">
            <a:noAutofit/>
          </a:bodyPr>
          <a:lstStyle/>
          <a:p>
            <a:pPr marL="0" indent="0">
              <a:buNone/>
            </a:pPr>
            <a:r>
              <a:rPr lang="en-US" dirty="0">
                <a:solidFill>
                  <a:srgbClr val="1E293B"/>
                </a:solidFill>
                <a:latin typeface="Times New Roman" panose="02020603050405020304" pitchFamily="18" charset="0"/>
                <a:cs typeface="Times New Roman" panose="02020603050405020304" pitchFamily="18" charset="0"/>
              </a:rPr>
              <a:t>Save or re-import diagrams as .circuit or .json files for reuse and project management.</a:t>
            </a:r>
            <a:endParaRPr lang="en-US" dirty="0">
              <a:latin typeface="Times New Roman" panose="02020603050405020304" pitchFamily="18" charset="0"/>
              <a:cs typeface="Times New Roman" panose="02020603050405020304" pitchFamily="18" charset="0"/>
            </a:endParaRPr>
          </a:p>
        </p:txBody>
      </p:sp>
      <p:sp>
        <p:nvSpPr>
          <p:cNvPr id="15" name="Shape 13"/>
          <p:cNvSpPr/>
          <p:nvPr/>
        </p:nvSpPr>
        <p:spPr>
          <a:xfrm>
            <a:off x="6522722" y="1783080"/>
            <a:ext cx="4892040" cy="4160520"/>
          </a:xfrm>
          <a:prstGeom prst="roundRect">
            <a:avLst>
              <a:gd name="adj" fmla="val 2637"/>
            </a:avLst>
          </a:prstGeom>
          <a:solidFill>
            <a:srgbClr val="FFFFFF"/>
          </a:solidFill>
          <a:ln w="13970">
            <a:solidFill>
              <a:srgbClr val="CBD5E1"/>
            </a:solidFill>
            <a:prstDash val="solid"/>
          </a:ln>
        </p:spPr>
        <p:txBody>
          <a:bodyPr/>
          <a:lstStyle/>
          <a:p>
            <a:endParaRPr lang="en-US"/>
          </a:p>
        </p:txBody>
      </p:sp>
      <p:sp>
        <p:nvSpPr>
          <p:cNvPr id="17" name="Text 15"/>
          <p:cNvSpPr/>
          <p:nvPr/>
        </p:nvSpPr>
        <p:spPr>
          <a:xfrm>
            <a:off x="594360" y="6473952"/>
            <a:ext cx="292608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PEE Project | 5</a:t>
            </a:r>
            <a:endParaRPr lang="en-US" sz="850" dirty="0"/>
          </a:p>
        </p:txBody>
      </p:sp>
      <p:pic>
        <p:nvPicPr>
          <p:cNvPr id="21" name="Picture 20">
            <a:extLst>
              <a:ext uri="{FF2B5EF4-FFF2-40B4-BE49-F238E27FC236}">
                <a16:creationId xmlns:a16="http://schemas.microsoft.com/office/drawing/2014/main" id="{54F07FDA-F758-B0AC-686B-E74508014A4B}"/>
              </a:ext>
            </a:extLst>
          </p:cNvPr>
          <p:cNvPicPr>
            <a:picLocks noChangeAspect="1"/>
          </p:cNvPicPr>
          <p:nvPr/>
        </p:nvPicPr>
        <p:blipFill>
          <a:blip r:embed="rId3"/>
          <a:stretch>
            <a:fillRect/>
          </a:stretch>
        </p:blipFill>
        <p:spPr>
          <a:xfrm>
            <a:off x="5321809" y="1055768"/>
            <a:ext cx="6660282" cy="54181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A5E9"/>
          </a:solidFill>
          <a:ln w="12700">
            <a:solidFill>
              <a:srgbClr val="0EA5E9">
                <a:alpha val="0"/>
              </a:srgbClr>
            </a:solidFill>
            <a:prstDash val="solid"/>
          </a:ln>
        </p:spPr>
        <p:txBody>
          <a:bodyPr/>
          <a:lstStyle/>
          <a:p>
            <a:endParaRPr lang="en-US"/>
          </a:p>
        </p:txBody>
      </p:sp>
      <p:sp>
        <p:nvSpPr>
          <p:cNvPr id="3" name="Text 1"/>
          <p:cNvSpPr/>
          <p:nvPr/>
        </p:nvSpPr>
        <p:spPr>
          <a:xfrm>
            <a:off x="555714" y="392846"/>
            <a:ext cx="8961120" cy="475488"/>
          </a:xfrm>
          <a:prstGeom prst="rect">
            <a:avLst/>
          </a:prstGeom>
          <a:noFill/>
          <a:ln/>
        </p:spPr>
        <p:txBody>
          <a:bodyPr wrap="square" lIns="0" tIns="0" rIns="0" bIns="0" rtlCol="0" anchor="ctr">
            <a:normAutofit/>
          </a:bodyPr>
          <a:lstStyle/>
          <a:p>
            <a:pPr marL="0" indent="0">
              <a:buNone/>
            </a:pPr>
            <a:r>
              <a:rPr lang="en-US" sz="3000" b="1" dirty="0">
                <a:solidFill>
                  <a:srgbClr val="0F172A"/>
                </a:solidFill>
                <a:latin typeface="Times New Roman" panose="02020603050405020304" pitchFamily="18" charset="0"/>
                <a:ea typeface="Aptos Display" pitchFamily="34" charset="-122"/>
                <a:cs typeface="Times New Roman" panose="02020603050405020304" pitchFamily="18" charset="0"/>
              </a:rPr>
              <a:t>Technical design</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621792" y="1060704"/>
            <a:ext cx="5276088" cy="219456"/>
          </a:xfrm>
          <a:prstGeom prst="rect">
            <a:avLst/>
          </a:prstGeom>
          <a:noFill/>
          <a:ln/>
        </p:spPr>
        <p:txBody>
          <a:bodyPr wrap="square" lIns="0" tIns="0" rIns="0" bIns="0" rtlCol="0" anchor="ctr">
            <a:noAutofit/>
          </a:bodyPr>
          <a:lstStyle/>
          <a:p>
            <a:pPr marL="0" indent="0">
              <a:buNone/>
            </a:pPr>
            <a:r>
              <a:rPr lang="en-US" dirty="0">
                <a:solidFill>
                  <a:srgbClr val="0369A1"/>
                </a:solidFill>
                <a:latin typeface="Times New Roman" panose="02020603050405020304" pitchFamily="18" charset="0"/>
                <a:cs typeface="Times New Roman" panose="02020603050405020304" pitchFamily="18" charset="0"/>
              </a:rPr>
              <a:t>A Python desktop application that converts drawings into structured circuit data.</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594360" y="1527048"/>
            <a:ext cx="5303520" cy="201168"/>
          </a:xfrm>
          <a:prstGeom prst="rect">
            <a:avLst/>
          </a:prstGeom>
          <a:noFill/>
          <a:ln/>
        </p:spPr>
        <p:txBody>
          <a:bodyPr wrap="square" lIns="0" tIns="0" rIns="0" bIns="0" rtlCol="0" anchor="ctr">
            <a:noAutofit/>
          </a:bodyPr>
          <a:lstStyle/>
          <a:p>
            <a:pPr marL="0" indent="0">
              <a:buNone/>
            </a:pPr>
            <a:r>
              <a:rPr lang="en-US" sz="2000" b="1" dirty="0">
                <a:solidFill>
                  <a:srgbClr val="0369A1"/>
                </a:solidFill>
                <a:latin typeface="Times New Roman" panose="02020603050405020304" pitchFamily="18" charset="0"/>
                <a:cs typeface="Times New Roman" panose="02020603050405020304" pitchFamily="18" charset="0"/>
              </a:rPr>
              <a:t>3. TECHNICAL DESIGN</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713232" y="1874520"/>
            <a:ext cx="2926080" cy="274320"/>
          </a:xfrm>
          <a:prstGeom prst="rect">
            <a:avLst/>
          </a:prstGeom>
          <a:noFill/>
          <a:ln/>
        </p:spPr>
        <p:txBody>
          <a:bodyPr wrap="square" lIns="0" tIns="0" rIns="0" bIns="0" rtlCol="0" anchor="ctr"/>
          <a:lstStyle/>
          <a:p>
            <a:pPr marL="0" indent="0">
              <a:buNone/>
            </a:pPr>
            <a:r>
              <a:rPr lang="en-US" sz="1800" b="1" dirty="0">
                <a:solidFill>
                  <a:srgbClr val="0F172A"/>
                </a:solidFill>
                <a:latin typeface="Times New Roman" panose="02020603050405020304" pitchFamily="18" charset="0"/>
                <a:cs typeface="Times New Roman" panose="02020603050405020304" pitchFamily="18" charset="0"/>
              </a:rPr>
              <a:t>Development stack</a:t>
            </a:r>
            <a:endParaRPr lang="en-US" sz="1800" dirty="0">
              <a:latin typeface="Times New Roman" panose="02020603050405020304" pitchFamily="18" charset="0"/>
              <a:cs typeface="Times New Roman" panose="02020603050405020304" pitchFamily="18" charset="0"/>
            </a:endParaRPr>
          </a:p>
        </p:txBody>
      </p:sp>
      <p:sp>
        <p:nvSpPr>
          <p:cNvPr id="7" name="Shape 5"/>
          <p:cNvSpPr/>
          <p:nvPr/>
        </p:nvSpPr>
        <p:spPr>
          <a:xfrm>
            <a:off x="749808" y="2478024"/>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8" name="Text 6"/>
          <p:cNvSpPr/>
          <p:nvPr/>
        </p:nvSpPr>
        <p:spPr>
          <a:xfrm>
            <a:off x="950976" y="2395728"/>
            <a:ext cx="4526280" cy="347472"/>
          </a:xfrm>
          <a:prstGeom prst="rect">
            <a:avLst/>
          </a:prstGeom>
          <a:noFill/>
          <a:ln/>
        </p:spPr>
        <p:txBody>
          <a:bodyPr wrap="square" lIns="0" tIns="0" rIns="0" bIns="0" rtlCol="0" anchor="ctr">
            <a:normAutofit/>
          </a:bodyPr>
          <a:lstStyle/>
          <a:p>
            <a:pPr marL="0" indent="0">
              <a:buNone/>
            </a:pPr>
            <a:r>
              <a:rPr lang="en-US" sz="1550" dirty="0">
                <a:solidFill>
                  <a:srgbClr val="1E293B"/>
                </a:solidFill>
                <a:latin typeface="Times New Roman" panose="02020603050405020304" pitchFamily="18" charset="0"/>
                <a:cs typeface="Times New Roman" panose="02020603050405020304" pitchFamily="18" charset="0"/>
              </a:rPr>
              <a:t>Built in Visual Studio Code</a:t>
            </a:r>
            <a:endParaRPr lang="en-US" sz="1550" dirty="0">
              <a:latin typeface="Times New Roman" panose="02020603050405020304" pitchFamily="18" charset="0"/>
              <a:cs typeface="Times New Roman" panose="02020603050405020304" pitchFamily="18" charset="0"/>
            </a:endParaRPr>
          </a:p>
        </p:txBody>
      </p:sp>
      <p:sp>
        <p:nvSpPr>
          <p:cNvPr id="9" name="Shape 7"/>
          <p:cNvSpPr/>
          <p:nvPr/>
        </p:nvSpPr>
        <p:spPr>
          <a:xfrm>
            <a:off x="749808" y="2916936"/>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10" name="Text 8"/>
          <p:cNvSpPr/>
          <p:nvPr/>
        </p:nvSpPr>
        <p:spPr>
          <a:xfrm>
            <a:off x="950976" y="2834640"/>
            <a:ext cx="4526280" cy="347472"/>
          </a:xfrm>
          <a:prstGeom prst="rect">
            <a:avLst/>
          </a:prstGeom>
          <a:noFill/>
          <a:ln/>
        </p:spPr>
        <p:txBody>
          <a:bodyPr wrap="square" lIns="0" tIns="0" rIns="0" bIns="0" rtlCol="0" anchor="ctr">
            <a:normAutofit/>
          </a:bodyPr>
          <a:lstStyle/>
          <a:p>
            <a:pPr marL="0" indent="0">
              <a:buNone/>
            </a:pPr>
            <a:r>
              <a:rPr lang="en-US" sz="1550" dirty="0">
                <a:solidFill>
                  <a:srgbClr val="1E293B"/>
                </a:solidFill>
                <a:latin typeface="Times New Roman" panose="02020603050405020304" pitchFamily="18" charset="0"/>
                <a:cs typeface="Times New Roman" panose="02020603050405020304" pitchFamily="18" charset="0"/>
              </a:rPr>
              <a:t>Python as the main programming language</a:t>
            </a:r>
            <a:endParaRPr lang="en-US" sz="1550" dirty="0">
              <a:latin typeface="Times New Roman" panose="02020603050405020304" pitchFamily="18" charset="0"/>
              <a:cs typeface="Times New Roman" panose="02020603050405020304" pitchFamily="18" charset="0"/>
            </a:endParaRPr>
          </a:p>
        </p:txBody>
      </p:sp>
      <p:sp>
        <p:nvSpPr>
          <p:cNvPr id="11" name="Shape 9"/>
          <p:cNvSpPr/>
          <p:nvPr/>
        </p:nvSpPr>
        <p:spPr>
          <a:xfrm>
            <a:off x="749808" y="3355848"/>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12" name="Text 10"/>
          <p:cNvSpPr/>
          <p:nvPr/>
        </p:nvSpPr>
        <p:spPr>
          <a:xfrm>
            <a:off x="950976" y="3273552"/>
            <a:ext cx="4526280" cy="347472"/>
          </a:xfrm>
          <a:prstGeom prst="rect">
            <a:avLst/>
          </a:prstGeom>
          <a:noFill/>
          <a:ln/>
        </p:spPr>
        <p:txBody>
          <a:bodyPr wrap="square" lIns="0" tIns="0" rIns="0" bIns="0" rtlCol="0" anchor="ctr">
            <a:normAutofit/>
          </a:bodyPr>
          <a:lstStyle/>
          <a:p>
            <a:pPr marL="0" indent="0">
              <a:buNone/>
            </a:pPr>
            <a:r>
              <a:rPr lang="en-US" sz="1550" dirty="0">
                <a:solidFill>
                  <a:srgbClr val="1E293B"/>
                </a:solidFill>
                <a:latin typeface="Times New Roman" panose="02020603050405020304" pitchFamily="18" charset="0"/>
                <a:cs typeface="Times New Roman" panose="02020603050405020304" pitchFamily="18" charset="0"/>
              </a:rPr>
              <a:t>PyQt5 for the desktop interface and Canvas</a:t>
            </a:r>
            <a:endParaRPr lang="en-US" sz="1550" dirty="0">
              <a:latin typeface="Times New Roman" panose="02020603050405020304" pitchFamily="18" charset="0"/>
              <a:cs typeface="Times New Roman" panose="02020603050405020304" pitchFamily="18" charset="0"/>
            </a:endParaRPr>
          </a:p>
        </p:txBody>
      </p:sp>
      <p:sp>
        <p:nvSpPr>
          <p:cNvPr id="13" name="Text 11"/>
          <p:cNvSpPr/>
          <p:nvPr/>
        </p:nvSpPr>
        <p:spPr>
          <a:xfrm>
            <a:off x="713232" y="3899141"/>
            <a:ext cx="2926080" cy="274320"/>
          </a:xfrm>
          <a:prstGeom prst="rect">
            <a:avLst/>
          </a:prstGeom>
          <a:noFill/>
          <a:ln/>
        </p:spPr>
        <p:txBody>
          <a:bodyPr wrap="square" lIns="0" tIns="0" rIns="0" bIns="0" rtlCol="0" anchor="ctr"/>
          <a:lstStyle/>
          <a:p>
            <a:pPr marL="0" indent="0">
              <a:buNone/>
            </a:pPr>
            <a:r>
              <a:rPr lang="en-US" sz="2000" b="1" dirty="0">
                <a:solidFill>
                  <a:srgbClr val="0F172A"/>
                </a:solidFill>
                <a:latin typeface="Times New Roman" panose="02020603050405020304" pitchFamily="18" charset="0"/>
                <a:cs typeface="Times New Roman" panose="02020603050405020304" pitchFamily="18" charset="0"/>
              </a:rPr>
              <a:t>AI provider options</a:t>
            </a:r>
            <a:endParaRPr lang="en-US" sz="2000" dirty="0">
              <a:latin typeface="Times New Roman" panose="02020603050405020304" pitchFamily="18" charset="0"/>
              <a:cs typeface="Times New Roman" panose="02020603050405020304" pitchFamily="18" charset="0"/>
            </a:endParaRPr>
          </a:p>
        </p:txBody>
      </p:sp>
      <p:sp>
        <p:nvSpPr>
          <p:cNvPr id="14" name="Shape 12"/>
          <p:cNvSpPr/>
          <p:nvPr/>
        </p:nvSpPr>
        <p:spPr>
          <a:xfrm>
            <a:off x="439891" y="4338053"/>
            <a:ext cx="1600200" cy="442709"/>
          </a:xfrm>
          <a:prstGeom prst="roundRect">
            <a:avLst>
              <a:gd name="adj" fmla="val 23529"/>
            </a:avLst>
          </a:prstGeom>
          <a:solidFill>
            <a:srgbClr val="E0F2FE"/>
          </a:solidFill>
          <a:ln w="12700">
            <a:solidFill>
              <a:srgbClr val="E0F2FE">
                <a:alpha val="0"/>
              </a:srgbClr>
            </a:solidFill>
            <a:prstDash val="solid"/>
          </a:ln>
        </p:spPr>
        <p:txBody>
          <a:bodyPr/>
          <a:lstStyle/>
          <a:p>
            <a:endParaRPr lang="en-US" dirty="0"/>
          </a:p>
        </p:txBody>
      </p:sp>
      <p:sp>
        <p:nvSpPr>
          <p:cNvPr id="15" name="Text 13"/>
          <p:cNvSpPr/>
          <p:nvPr/>
        </p:nvSpPr>
        <p:spPr>
          <a:xfrm>
            <a:off x="594360" y="4498848"/>
            <a:ext cx="1280160" cy="128016"/>
          </a:xfrm>
          <a:prstGeom prst="rect">
            <a:avLst/>
          </a:prstGeom>
          <a:noFill/>
          <a:ln/>
        </p:spPr>
        <p:txBody>
          <a:bodyPr wrap="square" lIns="0" tIns="0" rIns="0" bIns="0" rtlCol="0" anchor="ctr">
            <a:noAutofit/>
          </a:bodyPr>
          <a:lstStyle/>
          <a:p>
            <a:pPr marL="0" indent="0" algn="ctr">
              <a:buNone/>
            </a:pPr>
            <a:r>
              <a:rPr lang="en-US" sz="1600" b="1" dirty="0">
                <a:solidFill>
                  <a:srgbClr val="0369A1"/>
                </a:solidFill>
                <a:latin typeface="Times New Roman" panose="02020603050405020304" pitchFamily="18" charset="0"/>
                <a:cs typeface="Times New Roman" panose="02020603050405020304" pitchFamily="18" charset="0"/>
              </a:rPr>
              <a:t>Ollama Local</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2194560" y="4330459"/>
            <a:ext cx="1699805" cy="435115"/>
          </a:xfrm>
          <a:prstGeom prst="roundRect">
            <a:avLst>
              <a:gd name="adj" fmla="val 23529"/>
            </a:avLst>
          </a:prstGeom>
          <a:solidFill>
            <a:srgbClr val="E0F2FE"/>
          </a:solidFill>
          <a:ln w="12700">
            <a:solidFill>
              <a:srgbClr val="E0F2FE">
                <a:alpha val="0"/>
              </a:srgbClr>
            </a:solidFill>
            <a:prstDash val="solid"/>
          </a:ln>
        </p:spPr>
        <p:txBody>
          <a:bodyPr/>
          <a:lstStyle/>
          <a:p>
            <a:endParaRPr lang="en-US"/>
          </a:p>
        </p:txBody>
      </p:sp>
      <p:sp>
        <p:nvSpPr>
          <p:cNvPr id="17" name="Text 15"/>
          <p:cNvSpPr/>
          <p:nvPr/>
        </p:nvSpPr>
        <p:spPr>
          <a:xfrm>
            <a:off x="2300091" y="4484008"/>
            <a:ext cx="1417320" cy="128016"/>
          </a:xfrm>
          <a:prstGeom prst="rect">
            <a:avLst/>
          </a:prstGeom>
          <a:noFill/>
          <a:ln/>
        </p:spPr>
        <p:txBody>
          <a:bodyPr wrap="square" lIns="0" tIns="0" rIns="0" bIns="0" rtlCol="0" anchor="ctr">
            <a:noAutofit/>
          </a:bodyPr>
          <a:lstStyle/>
          <a:p>
            <a:pPr marL="0" indent="0" algn="ctr">
              <a:buNone/>
            </a:pPr>
            <a:r>
              <a:rPr lang="en-US" sz="1600" b="1" dirty="0">
                <a:solidFill>
                  <a:srgbClr val="0369A1"/>
                </a:solidFill>
              </a:rPr>
              <a:t>Google Gemini</a:t>
            </a:r>
            <a:endParaRPr lang="en-US" sz="1600" dirty="0"/>
          </a:p>
        </p:txBody>
      </p:sp>
      <p:sp>
        <p:nvSpPr>
          <p:cNvPr id="18" name="Shape 16"/>
          <p:cNvSpPr/>
          <p:nvPr/>
        </p:nvSpPr>
        <p:spPr>
          <a:xfrm>
            <a:off x="3999896" y="4330459"/>
            <a:ext cx="1212184" cy="442709"/>
          </a:xfrm>
          <a:prstGeom prst="roundRect">
            <a:avLst>
              <a:gd name="adj" fmla="val 23529"/>
            </a:avLst>
          </a:prstGeom>
          <a:solidFill>
            <a:srgbClr val="E0F2FE"/>
          </a:solidFill>
          <a:ln w="12700">
            <a:solidFill>
              <a:srgbClr val="E0F2FE">
                <a:alpha val="0"/>
              </a:srgbClr>
            </a:solidFill>
            <a:prstDash val="solid"/>
          </a:ln>
        </p:spPr>
        <p:txBody>
          <a:bodyPr/>
          <a:lstStyle/>
          <a:p>
            <a:endParaRPr lang="en-US"/>
          </a:p>
        </p:txBody>
      </p:sp>
      <p:sp>
        <p:nvSpPr>
          <p:cNvPr id="19" name="Text 17"/>
          <p:cNvSpPr/>
          <p:nvPr/>
        </p:nvSpPr>
        <p:spPr>
          <a:xfrm>
            <a:off x="4138200" y="4491255"/>
            <a:ext cx="868680" cy="128016"/>
          </a:xfrm>
          <a:prstGeom prst="rect">
            <a:avLst/>
          </a:prstGeom>
          <a:noFill/>
          <a:ln/>
        </p:spPr>
        <p:txBody>
          <a:bodyPr wrap="square" lIns="0" tIns="0" rIns="0" bIns="0" rtlCol="0" anchor="ctr">
            <a:noAutofit/>
          </a:bodyPr>
          <a:lstStyle/>
          <a:p>
            <a:pPr marL="0" indent="0" algn="ctr">
              <a:buNone/>
            </a:pPr>
            <a:r>
              <a:rPr lang="en-US" sz="1600" b="1" dirty="0">
                <a:solidFill>
                  <a:srgbClr val="0369A1"/>
                </a:solidFill>
              </a:rPr>
              <a:t>OpenAI</a:t>
            </a:r>
            <a:endParaRPr lang="en-US" sz="1600" dirty="0"/>
          </a:p>
        </p:txBody>
      </p:sp>
      <p:sp>
        <p:nvSpPr>
          <p:cNvPr id="20" name="Text 18"/>
          <p:cNvSpPr/>
          <p:nvPr/>
        </p:nvSpPr>
        <p:spPr>
          <a:xfrm>
            <a:off x="439891" y="5053009"/>
            <a:ext cx="4937760" cy="502920"/>
          </a:xfrm>
          <a:prstGeom prst="rect">
            <a:avLst/>
          </a:prstGeom>
          <a:noFill/>
          <a:ln/>
        </p:spPr>
        <p:txBody>
          <a:bodyPr wrap="square" lIns="0" tIns="0" rIns="0" bIns="0" rtlCol="0" anchor="ctr">
            <a:noAutofit/>
          </a:bodyPr>
          <a:lstStyle/>
          <a:p>
            <a:pPr marL="0" indent="0">
              <a:buNone/>
            </a:pPr>
            <a:r>
              <a:rPr lang="en-US" sz="1600" dirty="0">
                <a:solidFill>
                  <a:srgbClr val="1E293B"/>
                </a:solidFill>
              </a:rPr>
              <a:t>The app stores components, values, wires, and terminal connections as data before sending the circuit to the AI analysis layer.</a:t>
            </a:r>
            <a:endParaRPr lang="en-US" sz="1600" dirty="0"/>
          </a:p>
        </p:txBody>
      </p:sp>
      <p:sp>
        <p:nvSpPr>
          <p:cNvPr id="21" name="Shape 19"/>
          <p:cNvSpPr/>
          <p:nvPr/>
        </p:nvSpPr>
        <p:spPr>
          <a:xfrm>
            <a:off x="6492240" y="1783080"/>
            <a:ext cx="4892040" cy="4160520"/>
          </a:xfrm>
          <a:prstGeom prst="roundRect">
            <a:avLst>
              <a:gd name="adj" fmla="val 2637"/>
            </a:avLst>
          </a:prstGeom>
          <a:solidFill>
            <a:srgbClr val="FFFFFF"/>
          </a:solidFill>
          <a:ln w="13970">
            <a:solidFill>
              <a:srgbClr val="CBD5E1"/>
            </a:solidFill>
            <a:prstDash val="solid"/>
          </a:ln>
        </p:spPr>
        <p:txBody>
          <a:bodyPr/>
          <a:lstStyle/>
          <a:p>
            <a:endParaRPr lang="en-US"/>
          </a:p>
        </p:txBody>
      </p:sp>
      <p:sp>
        <p:nvSpPr>
          <p:cNvPr id="23" name="Text 21"/>
          <p:cNvSpPr/>
          <p:nvPr/>
        </p:nvSpPr>
        <p:spPr>
          <a:xfrm>
            <a:off x="283809" y="6473952"/>
            <a:ext cx="292608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PEE Project | 6</a:t>
            </a:r>
            <a:endParaRPr lang="en-US" sz="850" dirty="0"/>
          </a:p>
        </p:txBody>
      </p:sp>
      <p:pic>
        <p:nvPicPr>
          <p:cNvPr id="25" name="Picture 24">
            <a:extLst>
              <a:ext uri="{FF2B5EF4-FFF2-40B4-BE49-F238E27FC236}">
                <a16:creationId xmlns:a16="http://schemas.microsoft.com/office/drawing/2014/main" id="{6E1997DD-B136-0C73-9F08-98A4585AB121}"/>
              </a:ext>
            </a:extLst>
          </p:cNvPr>
          <p:cNvPicPr>
            <a:picLocks noChangeAspect="1"/>
          </p:cNvPicPr>
          <p:nvPr/>
        </p:nvPicPr>
        <p:blipFill>
          <a:blip r:embed="rId3"/>
          <a:stretch>
            <a:fillRect/>
          </a:stretch>
        </p:blipFill>
        <p:spPr>
          <a:xfrm>
            <a:off x="5655189" y="1457865"/>
            <a:ext cx="6377400" cy="46396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A5E9"/>
          </a:solidFill>
          <a:ln w="12700">
            <a:solidFill>
              <a:srgbClr val="0EA5E9">
                <a:alpha val="0"/>
              </a:srgbClr>
            </a:solidFill>
            <a:prstDash val="solid"/>
          </a:ln>
        </p:spPr>
        <p:txBody>
          <a:bodyPr/>
          <a:lstStyle/>
          <a:p>
            <a:endParaRPr lang="en-US"/>
          </a:p>
        </p:txBody>
      </p:sp>
      <p:sp>
        <p:nvSpPr>
          <p:cNvPr id="3" name="Text 1"/>
          <p:cNvSpPr/>
          <p:nvPr/>
        </p:nvSpPr>
        <p:spPr>
          <a:xfrm>
            <a:off x="594360" y="502920"/>
            <a:ext cx="8961120" cy="475488"/>
          </a:xfrm>
          <a:prstGeom prst="rect">
            <a:avLst/>
          </a:prstGeom>
          <a:noFill/>
          <a:ln/>
        </p:spPr>
        <p:txBody>
          <a:bodyPr wrap="square" lIns="0" tIns="0" rIns="0" bIns="0" rtlCol="0" anchor="ctr">
            <a:normAutofit/>
          </a:bodyPr>
          <a:lstStyle/>
          <a:p>
            <a:pPr marL="0" indent="0">
              <a:buNone/>
            </a:pPr>
            <a:r>
              <a:rPr lang="en-US" sz="3000" b="1" dirty="0">
                <a:solidFill>
                  <a:srgbClr val="0F172A"/>
                </a:solidFill>
                <a:latin typeface="Times New Roman" panose="02020603050405020304" pitchFamily="18" charset="0"/>
                <a:ea typeface="Aptos Display" pitchFamily="34" charset="-122"/>
                <a:cs typeface="Times New Roman" panose="02020603050405020304" pitchFamily="18" charset="0"/>
              </a:rPr>
              <a:t>How AI supports learning</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526901" y="1058288"/>
            <a:ext cx="7426654" cy="330435"/>
          </a:xfrm>
          <a:prstGeom prst="rect">
            <a:avLst/>
          </a:prstGeom>
          <a:noFill/>
          <a:ln/>
        </p:spPr>
        <p:txBody>
          <a:bodyPr wrap="square" lIns="0" tIns="0" rIns="0" bIns="0" rtlCol="0" anchor="ctr">
            <a:noAutofit/>
          </a:bodyPr>
          <a:lstStyle/>
          <a:p>
            <a:pPr marL="0" indent="0">
              <a:buNone/>
            </a:pPr>
            <a:r>
              <a:rPr lang="en-US" sz="2000" dirty="0">
                <a:solidFill>
                  <a:srgbClr val="0369A1"/>
                </a:solidFill>
              </a:rPr>
              <a:t>The goal is not only to give an answer, but to explain the reasoning.</a:t>
            </a:r>
            <a:endParaRPr lang="en-US" sz="2000" dirty="0"/>
          </a:p>
        </p:txBody>
      </p:sp>
      <p:sp>
        <p:nvSpPr>
          <p:cNvPr id="5" name="Text 3"/>
          <p:cNvSpPr/>
          <p:nvPr/>
        </p:nvSpPr>
        <p:spPr>
          <a:xfrm>
            <a:off x="612648" y="1492715"/>
            <a:ext cx="5303520" cy="201168"/>
          </a:xfrm>
          <a:prstGeom prst="rect">
            <a:avLst/>
          </a:prstGeom>
          <a:noFill/>
          <a:ln/>
        </p:spPr>
        <p:txBody>
          <a:bodyPr wrap="square" lIns="0" tIns="0" rIns="0" bIns="0" rtlCol="0" anchor="ctr">
            <a:noAutofit/>
          </a:bodyPr>
          <a:lstStyle/>
          <a:p>
            <a:pPr marL="0" indent="0">
              <a:buNone/>
            </a:pPr>
            <a:r>
              <a:rPr lang="en-US" sz="2000" b="1" dirty="0">
                <a:solidFill>
                  <a:srgbClr val="0369A1"/>
                </a:solidFill>
                <a:latin typeface="Times New Roman" panose="02020603050405020304" pitchFamily="18" charset="0"/>
                <a:cs typeface="Times New Roman" panose="02020603050405020304" pitchFamily="18" charset="0"/>
              </a:rPr>
              <a:t>4. HOW AI SUPPORTS LEARNING </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713232" y="1828800"/>
            <a:ext cx="3657600" cy="274320"/>
          </a:xfrm>
          <a:prstGeom prst="rect">
            <a:avLst/>
          </a:prstGeom>
          <a:noFill/>
          <a:ln/>
        </p:spPr>
        <p:txBody>
          <a:bodyPr wrap="square" lIns="0" tIns="0" rIns="0" bIns="0" rtlCol="0" anchor="ctr"/>
          <a:lstStyle/>
          <a:p>
            <a:pPr marL="0" indent="0">
              <a:buNone/>
            </a:pPr>
            <a:r>
              <a:rPr lang="en-US" sz="1800" b="1" dirty="0">
                <a:solidFill>
                  <a:srgbClr val="0F172A"/>
                </a:solidFill>
                <a:latin typeface="Times New Roman" panose="02020603050405020304" pitchFamily="18" charset="0"/>
                <a:cs typeface="Times New Roman" panose="02020603050405020304" pitchFamily="18" charset="0"/>
              </a:rPr>
              <a:t>Output structure</a:t>
            </a:r>
            <a:endParaRPr lang="en-US" sz="1800" dirty="0">
              <a:latin typeface="Times New Roman" panose="02020603050405020304" pitchFamily="18" charset="0"/>
              <a:cs typeface="Times New Roman" panose="02020603050405020304" pitchFamily="18" charset="0"/>
            </a:endParaRPr>
          </a:p>
        </p:txBody>
      </p:sp>
      <p:sp>
        <p:nvSpPr>
          <p:cNvPr id="7" name="Shape 5"/>
          <p:cNvSpPr/>
          <p:nvPr/>
        </p:nvSpPr>
        <p:spPr>
          <a:xfrm>
            <a:off x="511221" y="2394822"/>
            <a:ext cx="2468064" cy="1132777"/>
          </a:xfrm>
          <a:prstGeom prst="roundRect">
            <a:avLst>
              <a:gd name="adj" fmla="val 6957"/>
            </a:avLst>
          </a:prstGeom>
          <a:solidFill>
            <a:srgbClr val="FFFFFF"/>
          </a:solidFill>
          <a:ln w="12700">
            <a:solidFill>
              <a:srgbClr val="CBD5E1"/>
            </a:solidFill>
            <a:prstDash val="solid"/>
          </a:ln>
        </p:spPr>
        <p:txBody>
          <a:bodyPr/>
          <a:lstStyle/>
          <a:p>
            <a:endParaRPr lang="en-US"/>
          </a:p>
        </p:txBody>
      </p:sp>
      <p:sp>
        <p:nvSpPr>
          <p:cNvPr id="8" name="Text 6"/>
          <p:cNvSpPr/>
          <p:nvPr/>
        </p:nvSpPr>
        <p:spPr>
          <a:xfrm>
            <a:off x="830853" y="2514147"/>
            <a:ext cx="1828800" cy="219456"/>
          </a:xfrm>
          <a:prstGeom prst="rect">
            <a:avLst/>
          </a:prstGeom>
          <a:noFill/>
          <a:ln/>
        </p:spPr>
        <p:txBody>
          <a:bodyPr wrap="square" lIns="0" tIns="0" rIns="0" bIns="0" rtlCol="0" anchor="ctr"/>
          <a:lstStyle/>
          <a:p>
            <a:pPr marL="0" indent="0" algn="ctr">
              <a:buNone/>
            </a:pPr>
            <a:r>
              <a:rPr lang="en-US" sz="1800" b="1" dirty="0">
                <a:solidFill>
                  <a:srgbClr val="0369A1"/>
                </a:solidFill>
                <a:latin typeface="Times New Roman" panose="02020603050405020304" pitchFamily="18" charset="0"/>
                <a:cs typeface="Times New Roman" panose="02020603050405020304" pitchFamily="18" charset="0"/>
              </a:rPr>
              <a:t>Solution</a:t>
            </a:r>
            <a:endParaRPr lang="en-US" sz="1800" dirty="0">
              <a:latin typeface="Times New Roman" panose="02020603050405020304" pitchFamily="18" charset="0"/>
              <a:cs typeface="Times New Roman" panose="02020603050405020304" pitchFamily="18" charset="0"/>
            </a:endParaRPr>
          </a:p>
        </p:txBody>
      </p:sp>
      <p:sp>
        <p:nvSpPr>
          <p:cNvPr id="9" name="Text 7"/>
          <p:cNvSpPr/>
          <p:nvPr/>
        </p:nvSpPr>
        <p:spPr>
          <a:xfrm>
            <a:off x="745030" y="2989182"/>
            <a:ext cx="1998169" cy="257456"/>
          </a:xfrm>
          <a:prstGeom prst="rect">
            <a:avLst/>
          </a:prstGeom>
          <a:noFill/>
          <a:ln/>
        </p:spPr>
        <p:txBody>
          <a:bodyPr wrap="square" lIns="0" tIns="0" rIns="0" bIns="0" rtlCol="0" anchor="ctr"/>
          <a:lstStyle/>
          <a:p>
            <a:pPr marL="0" indent="0" algn="ctr">
              <a:buNone/>
            </a:pPr>
            <a:r>
              <a:rPr lang="en-US" dirty="0">
                <a:solidFill>
                  <a:srgbClr val="64748B"/>
                </a:solidFill>
                <a:latin typeface="Times New Roman" panose="02020603050405020304" pitchFamily="18" charset="0"/>
                <a:cs typeface="Times New Roman" panose="02020603050405020304" pitchFamily="18" charset="0"/>
              </a:rPr>
              <a:t>Step-by-step process</a:t>
            </a:r>
            <a:endParaRPr lang="en-US" dirty="0">
              <a:latin typeface="Times New Roman" panose="02020603050405020304" pitchFamily="18" charset="0"/>
              <a:cs typeface="Times New Roman" panose="02020603050405020304" pitchFamily="18" charset="0"/>
            </a:endParaRPr>
          </a:p>
        </p:txBody>
      </p:sp>
      <p:sp>
        <p:nvSpPr>
          <p:cNvPr id="10" name="Shape 8"/>
          <p:cNvSpPr/>
          <p:nvPr/>
        </p:nvSpPr>
        <p:spPr>
          <a:xfrm>
            <a:off x="3209952" y="2361740"/>
            <a:ext cx="2468064" cy="1225555"/>
          </a:xfrm>
          <a:prstGeom prst="roundRect">
            <a:avLst>
              <a:gd name="adj" fmla="val 6957"/>
            </a:avLst>
          </a:prstGeom>
          <a:solidFill>
            <a:srgbClr val="FFFFFF"/>
          </a:solidFill>
          <a:ln w="12700">
            <a:solidFill>
              <a:srgbClr val="CBD5E1"/>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3572543" y="2492472"/>
            <a:ext cx="1828800" cy="219456"/>
          </a:xfrm>
          <a:prstGeom prst="rect">
            <a:avLst/>
          </a:prstGeom>
          <a:noFill/>
          <a:ln/>
        </p:spPr>
        <p:txBody>
          <a:bodyPr wrap="square" lIns="0" tIns="0" rIns="0" bIns="0" rtlCol="0" anchor="ctr"/>
          <a:lstStyle/>
          <a:p>
            <a:pPr marL="0" indent="0" algn="ctr">
              <a:buNone/>
            </a:pPr>
            <a:r>
              <a:rPr lang="en-US" b="1" dirty="0">
                <a:solidFill>
                  <a:srgbClr val="0369A1"/>
                </a:solidFill>
              </a:rPr>
              <a:t>Explanation</a:t>
            </a:r>
            <a:endParaRPr lang="en-US" dirty="0"/>
          </a:p>
        </p:txBody>
      </p:sp>
      <p:sp>
        <p:nvSpPr>
          <p:cNvPr id="12" name="Text 10"/>
          <p:cNvSpPr/>
          <p:nvPr/>
        </p:nvSpPr>
        <p:spPr>
          <a:xfrm>
            <a:off x="3451083" y="2915080"/>
            <a:ext cx="2071720" cy="416915"/>
          </a:xfrm>
          <a:prstGeom prst="rect">
            <a:avLst/>
          </a:prstGeom>
          <a:noFill/>
          <a:ln/>
        </p:spPr>
        <p:txBody>
          <a:bodyPr wrap="square" lIns="0" tIns="0" rIns="0" bIns="0" rtlCol="0" anchor="ctr"/>
          <a:lstStyle/>
          <a:p>
            <a:pPr marL="0" indent="0" algn="ctr">
              <a:buNone/>
            </a:pPr>
            <a:r>
              <a:rPr lang="en-US" dirty="0">
                <a:solidFill>
                  <a:srgbClr val="64748B"/>
                </a:solidFill>
                <a:latin typeface="Times New Roman" panose="02020603050405020304" pitchFamily="18" charset="0"/>
                <a:cs typeface="Times New Roman" panose="02020603050405020304" pitchFamily="18" charset="0"/>
              </a:rPr>
              <a:t>Why each step is used</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530352" y="3730751"/>
            <a:ext cx="4023360" cy="274320"/>
          </a:xfrm>
          <a:prstGeom prst="rect">
            <a:avLst/>
          </a:prstGeom>
          <a:noFill/>
          <a:ln/>
        </p:spPr>
        <p:txBody>
          <a:bodyPr wrap="square" lIns="0" tIns="0" rIns="0" bIns="0" rtlCol="0" anchor="ctr"/>
          <a:lstStyle/>
          <a:p>
            <a:pPr marL="0" indent="0">
              <a:buNone/>
            </a:pPr>
            <a:r>
              <a:rPr lang="en-US" sz="2000" b="1" dirty="0">
                <a:solidFill>
                  <a:srgbClr val="0F172A"/>
                </a:solidFill>
                <a:latin typeface="Times New Roman" panose="02020603050405020304" pitchFamily="18" charset="0"/>
                <a:cs typeface="Times New Roman" panose="02020603050405020304" pitchFamily="18" charset="0"/>
              </a:rPr>
              <a:t>Example learning value</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592223" y="4243075"/>
            <a:ext cx="4965192" cy="685800"/>
          </a:xfrm>
          <a:prstGeom prst="rect">
            <a:avLst/>
          </a:prstGeom>
          <a:noFill/>
          <a:ln/>
        </p:spPr>
        <p:txBody>
          <a:bodyPr wrap="square" lIns="0" tIns="0" rIns="0" bIns="0" rtlCol="0" anchor="ctr">
            <a:noAutofit/>
          </a:bodyPr>
          <a:lstStyle/>
          <a:p>
            <a:pPr marL="0" indent="0">
              <a:buNone/>
            </a:pPr>
            <a:r>
              <a:rPr lang="en-US" sz="1600" dirty="0">
                <a:solidFill>
                  <a:srgbClr val="1E293B"/>
                </a:solidFill>
                <a:latin typeface="Times New Roman" panose="02020603050405020304" pitchFamily="18" charset="0"/>
                <a:cs typeface="Times New Roman" panose="02020603050405020304" pitchFamily="18" charset="0"/>
              </a:rPr>
              <a:t>For a KCL equation, the system can explain why current flows into or out of a node and why each term appears in the equation.</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592223" y="5470700"/>
            <a:ext cx="4469757" cy="347472"/>
          </a:xfrm>
          <a:prstGeom prst="rect">
            <a:avLst/>
          </a:prstGeom>
          <a:noFill/>
          <a:ln/>
        </p:spPr>
        <p:txBody>
          <a:bodyPr wrap="square" lIns="0" tIns="0" rIns="0" bIns="0" rtlCol="0" anchor="ctr">
            <a:noAutofit/>
          </a:bodyPr>
          <a:lstStyle/>
          <a:p>
            <a:pPr marL="0" indent="0">
              <a:buNone/>
            </a:pPr>
            <a:r>
              <a:rPr lang="en-US" b="1" dirty="0">
                <a:solidFill>
                  <a:srgbClr val="0369A1"/>
                </a:solidFill>
                <a:latin typeface="Times New Roman" panose="02020603050405020304" pitchFamily="18" charset="0"/>
                <a:cs typeface="Times New Roman" panose="02020603050405020304" pitchFamily="18" charset="0"/>
              </a:rPr>
              <a:t>Important note: AI is a learning support tool, not an absolute verification source.</a:t>
            </a:r>
            <a:endParaRPr lang="en-US" dirty="0">
              <a:latin typeface="Times New Roman" panose="02020603050405020304" pitchFamily="18" charset="0"/>
              <a:cs typeface="Times New Roman" panose="02020603050405020304" pitchFamily="18" charset="0"/>
            </a:endParaRPr>
          </a:p>
        </p:txBody>
      </p:sp>
      <p:sp>
        <p:nvSpPr>
          <p:cNvPr id="16" name="Shape 14"/>
          <p:cNvSpPr/>
          <p:nvPr/>
        </p:nvSpPr>
        <p:spPr>
          <a:xfrm>
            <a:off x="6504434" y="1828800"/>
            <a:ext cx="4892040" cy="4160520"/>
          </a:xfrm>
          <a:prstGeom prst="roundRect">
            <a:avLst>
              <a:gd name="adj" fmla="val 2637"/>
            </a:avLst>
          </a:prstGeom>
          <a:solidFill>
            <a:srgbClr val="FFFFFF"/>
          </a:solidFill>
          <a:ln w="13970">
            <a:solidFill>
              <a:srgbClr val="CBD5E1"/>
            </a:solidFill>
            <a:prstDash val="solid"/>
          </a:ln>
        </p:spPr>
        <p:txBody>
          <a:bodyPr/>
          <a:lstStyle/>
          <a:p>
            <a:endParaRPr lang="en-US"/>
          </a:p>
        </p:txBody>
      </p:sp>
      <p:sp>
        <p:nvSpPr>
          <p:cNvPr id="18" name="Text 16"/>
          <p:cNvSpPr/>
          <p:nvPr/>
        </p:nvSpPr>
        <p:spPr>
          <a:xfrm>
            <a:off x="594360" y="6473952"/>
            <a:ext cx="292608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PEE Project | 7</a:t>
            </a:r>
            <a:endParaRPr lang="en-US" sz="850" dirty="0"/>
          </a:p>
        </p:txBody>
      </p:sp>
      <p:pic>
        <p:nvPicPr>
          <p:cNvPr id="20" name="Picture 19">
            <a:extLst>
              <a:ext uri="{FF2B5EF4-FFF2-40B4-BE49-F238E27FC236}">
                <a16:creationId xmlns:a16="http://schemas.microsoft.com/office/drawing/2014/main" id="{B2028BC1-7D79-16B8-99DE-35D63105EA78}"/>
              </a:ext>
            </a:extLst>
          </p:cNvPr>
          <p:cNvPicPr>
            <a:picLocks noChangeAspect="1"/>
          </p:cNvPicPr>
          <p:nvPr/>
        </p:nvPicPr>
        <p:blipFill>
          <a:blip r:embed="rId3"/>
          <a:stretch>
            <a:fillRect/>
          </a:stretch>
        </p:blipFill>
        <p:spPr>
          <a:xfrm>
            <a:off x="5769864" y="1724808"/>
            <a:ext cx="6176909" cy="43685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A5E9"/>
          </a:solidFill>
          <a:ln w="12700">
            <a:solidFill>
              <a:srgbClr val="0EA5E9">
                <a:alpha val="0"/>
              </a:srgbClr>
            </a:solidFill>
            <a:prstDash val="solid"/>
          </a:ln>
        </p:spPr>
        <p:txBody>
          <a:bodyPr/>
          <a:lstStyle/>
          <a:p>
            <a:endParaRPr lang="en-US"/>
          </a:p>
        </p:txBody>
      </p:sp>
      <p:sp>
        <p:nvSpPr>
          <p:cNvPr id="3" name="Text 1"/>
          <p:cNvSpPr/>
          <p:nvPr/>
        </p:nvSpPr>
        <p:spPr>
          <a:xfrm>
            <a:off x="594360" y="502920"/>
            <a:ext cx="8961120" cy="475488"/>
          </a:xfrm>
          <a:prstGeom prst="rect">
            <a:avLst/>
          </a:prstGeom>
          <a:noFill/>
          <a:ln/>
        </p:spPr>
        <p:txBody>
          <a:bodyPr wrap="square" lIns="0" tIns="0" rIns="0" bIns="0" rtlCol="0" anchor="ctr">
            <a:normAutofit/>
          </a:bodyPr>
          <a:lstStyle/>
          <a:p>
            <a:pPr marL="0" indent="0">
              <a:buNone/>
            </a:pPr>
            <a:r>
              <a:rPr lang="en-US" sz="3000" b="1" dirty="0">
                <a:solidFill>
                  <a:srgbClr val="0F172A"/>
                </a:solidFill>
                <a:latin typeface="Times New Roman" panose="02020603050405020304" pitchFamily="18" charset="0"/>
                <a:ea typeface="Aptos Display" pitchFamily="34" charset="-122"/>
                <a:cs typeface="Times New Roman" panose="02020603050405020304" pitchFamily="18" charset="0"/>
              </a:rPr>
              <a:t>Current Limitations &amp; Strategic Roadmap</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621792" y="1024128"/>
            <a:ext cx="7772400" cy="256032"/>
          </a:xfrm>
          <a:prstGeom prst="rect">
            <a:avLst/>
          </a:prstGeom>
          <a:noFill/>
          <a:ln/>
        </p:spPr>
        <p:txBody>
          <a:bodyPr wrap="square" lIns="0" tIns="0" rIns="0" bIns="0" rtlCol="0" anchor="ctr">
            <a:normAutofit/>
          </a:bodyPr>
          <a:lstStyle/>
          <a:p>
            <a:pPr marL="0" indent="0">
              <a:buNone/>
            </a:pPr>
            <a:r>
              <a:rPr lang="en-US" sz="1600" dirty="0">
                <a:solidFill>
                  <a:srgbClr val="0369A1"/>
                </a:solidFill>
                <a:latin typeface="Times New Roman" panose="02020603050405020304" pitchFamily="18" charset="0"/>
                <a:cs typeface="Times New Roman" panose="02020603050405020304" pitchFamily="18" charset="0"/>
              </a:rPr>
              <a:t>Being clear about limitations helps define the next development steps.</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612648" y="1389888"/>
            <a:ext cx="5303520" cy="201168"/>
          </a:xfrm>
          <a:prstGeom prst="rect">
            <a:avLst/>
          </a:prstGeom>
          <a:noFill/>
          <a:ln/>
        </p:spPr>
        <p:txBody>
          <a:bodyPr wrap="square" lIns="0" tIns="0" rIns="0" bIns="0" rtlCol="0" anchor="ctr">
            <a:noAutofit/>
          </a:bodyPr>
          <a:lstStyle/>
          <a:p>
            <a:pPr marL="0" indent="0">
              <a:buNone/>
            </a:pPr>
            <a:r>
              <a:rPr lang="en-US" sz="2000" b="1" dirty="0">
                <a:solidFill>
                  <a:srgbClr val="0369A1"/>
                </a:solidFill>
                <a:latin typeface="Times New Roman" panose="02020603050405020304" pitchFamily="18" charset="0"/>
                <a:cs typeface="Times New Roman" panose="02020603050405020304" pitchFamily="18" charset="0"/>
              </a:rPr>
              <a:t>5. LIMITATIONS AND ROADMAP</a:t>
            </a:r>
            <a:endParaRPr lang="en-US" sz="2000" dirty="0">
              <a:latin typeface="Times New Roman" panose="02020603050405020304" pitchFamily="18" charset="0"/>
              <a:cs typeface="Times New Roman" panose="02020603050405020304" pitchFamily="18" charset="0"/>
            </a:endParaRPr>
          </a:p>
        </p:txBody>
      </p:sp>
      <p:sp>
        <p:nvSpPr>
          <p:cNvPr id="6" name="Shape 4"/>
          <p:cNvSpPr/>
          <p:nvPr/>
        </p:nvSpPr>
        <p:spPr>
          <a:xfrm>
            <a:off x="694944" y="1856232"/>
            <a:ext cx="5212080" cy="3977640"/>
          </a:xfrm>
          <a:prstGeom prst="roundRect">
            <a:avLst>
              <a:gd name="adj" fmla="val 2759"/>
            </a:avLst>
          </a:prstGeom>
          <a:solidFill>
            <a:srgbClr val="FFFFFF"/>
          </a:solidFill>
          <a:ln w="12700">
            <a:solidFill>
              <a:srgbClr val="E9D5FF"/>
            </a:solidFill>
            <a:prstDash val="solid"/>
          </a:ln>
        </p:spPr>
        <p:txBody>
          <a:bodyPr/>
          <a:lstStyle/>
          <a:p>
            <a:endParaRPr lang="en-US"/>
          </a:p>
        </p:txBody>
      </p:sp>
      <p:sp>
        <p:nvSpPr>
          <p:cNvPr id="7" name="Shape 5"/>
          <p:cNvSpPr/>
          <p:nvPr/>
        </p:nvSpPr>
        <p:spPr>
          <a:xfrm>
            <a:off x="694944" y="1856232"/>
            <a:ext cx="5212080" cy="73152"/>
          </a:xfrm>
          <a:prstGeom prst="rect">
            <a:avLst/>
          </a:prstGeom>
          <a:solidFill>
            <a:srgbClr val="7C3AED"/>
          </a:solidFill>
          <a:ln w="12700">
            <a:solidFill>
              <a:srgbClr val="7C3AED">
                <a:alpha val="0"/>
              </a:srgbClr>
            </a:solidFill>
            <a:prstDash val="solid"/>
          </a:ln>
        </p:spPr>
        <p:txBody>
          <a:bodyPr/>
          <a:lstStyle/>
          <a:p>
            <a:endParaRPr lang="en-US"/>
          </a:p>
        </p:txBody>
      </p:sp>
      <p:sp>
        <p:nvSpPr>
          <p:cNvPr id="8" name="Text 6"/>
          <p:cNvSpPr/>
          <p:nvPr/>
        </p:nvSpPr>
        <p:spPr>
          <a:xfrm>
            <a:off x="960120" y="2148840"/>
            <a:ext cx="4389120" cy="256032"/>
          </a:xfrm>
          <a:prstGeom prst="rect">
            <a:avLst/>
          </a:prstGeom>
          <a:noFill/>
          <a:ln/>
        </p:spPr>
        <p:txBody>
          <a:bodyPr wrap="square" lIns="0" tIns="0" rIns="0" bIns="0" rtlCol="0" anchor="ctr"/>
          <a:lstStyle/>
          <a:p>
            <a:pPr marL="0" indent="0">
              <a:buNone/>
            </a:pPr>
            <a:r>
              <a:rPr lang="en-US" sz="1800" b="1" dirty="0">
                <a:solidFill>
                  <a:srgbClr val="0F172A"/>
                </a:solidFill>
              </a:rPr>
              <a:t>Current </a:t>
            </a:r>
            <a:r>
              <a:rPr lang="en-US" sz="1800" b="1" dirty="0">
                <a:solidFill>
                  <a:srgbClr val="0F172A"/>
                </a:solidFill>
                <a:latin typeface="Times New Roman" panose="02020603050405020304" pitchFamily="18" charset="0"/>
                <a:cs typeface="Times New Roman" panose="02020603050405020304" pitchFamily="18" charset="0"/>
              </a:rPr>
              <a:t>Limitations</a:t>
            </a:r>
            <a:endParaRPr lang="en-US" sz="1800" dirty="0">
              <a:latin typeface="Times New Roman" panose="02020603050405020304" pitchFamily="18" charset="0"/>
              <a:cs typeface="Times New Roman" panose="02020603050405020304" pitchFamily="18" charset="0"/>
            </a:endParaRPr>
          </a:p>
        </p:txBody>
      </p:sp>
      <p:sp>
        <p:nvSpPr>
          <p:cNvPr id="9" name="Shape 7"/>
          <p:cNvSpPr/>
          <p:nvPr/>
        </p:nvSpPr>
        <p:spPr>
          <a:xfrm>
            <a:off x="987552" y="2779776"/>
            <a:ext cx="73152" cy="73152"/>
          </a:xfrm>
          <a:prstGeom prst="ellipse">
            <a:avLst/>
          </a:prstGeom>
          <a:solidFill>
            <a:srgbClr val="7C3AED"/>
          </a:solidFill>
          <a:ln w="12700">
            <a:solidFill>
              <a:srgbClr val="7C3AED">
                <a:alpha val="0"/>
              </a:srgbClr>
            </a:solidFill>
            <a:prstDash val="solid"/>
          </a:ln>
        </p:spPr>
        <p:txBody>
          <a:bodyPr/>
          <a:lstStyle/>
          <a:p>
            <a:endParaRPr lang="en-US"/>
          </a:p>
        </p:txBody>
      </p:sp>
      <p:sp>
        <p:nvSpPr>
          <p:cNvPr id="10" name="Text 8"/>
          <p:cNvSpPr/>
          <p:nvPr/>
        </p:nvSpPr>
        <p:spPr>
          <a:xfrm>
            <a:off x="1188720" y="2697480"/>
            <a:ext cx="4480560" cy="502920"/>
          </a:xfrm>
          <a:prstGeom prst="rect">
            <a:avLst/>
          </a:prstGeom>
          <a:noFill/>
          <a:ln/>
        </p:spPr>
        <p:txBody>
          <a:bodyPr wrap="square" lIns="0" tIns="0" rIns="0" bIns="0" rtlCol="0" anchor="ctr">
            <a:normAutofit/>
          </a:bodyPr>
          <a:lstStyle/>
          <a:p>
            <a:pPr marL="0" indent="0">
              <a:buNone/>
            </a:pPr>
            <a:r>
              <a:rPr lang="en-US" sz="1450" dirty="0">
                <a:solidFill>
                  <a:srgbClr val="1E293B"/>
                </a:solidFill>
                <a:latin typeface="Times New Roman" panose="02020603050405020304" pitchFamily="18" charset="0"/>
                <a:cs typeface="Times New Roman" panose="02020603050405020304" pitchFamily="18" charset="0"/>
              </a:rPr>
              <a:t>AI output can be inaccurate, so it cannot be used as the only verification source.</a:t>
            </a:r>
            <a:endParaRPr lang="en-US" sz="1450" dirty="0">
              <a:latin typeface="Times New Roman" panose="02020603050405020304" pitchFamily="18" charset="0"/>
              <a:cs typeface="Times New Roman" panose="02020603050405020304" pitchFamily="18" charset="0"/>
            </a:endParaRPr>
          </a:p>
        </p:txBody>
      </p:sp>
      <p:sp>
        <p:nvSpPr>
          <p:cNvPr id="11" name="Shape 9"/>
          <p:cNvSpPr/>
          <p:nvPr/>
        </p:nvSpPr>
        <p:spPr>
          <a:xfrm>
            <a:off x="987552" y="3511296"/>
            <a:ext cx="73152" cy="73152"/>
          </a:xfrm>
          <a:prstGeom prst="ellipse">
            <a:avLst/>
          </a:prstGeom>
          <a:solidFill>
            <a:srgbClr val="7C3AED"/>
          </a:solidFill>
          <a:ln w="12700">
            <a:solidFill>
              <a:srgbClr val="7C3AED">
                <a:alpha val="0"/>
              </a:srgbClr>
            </a:solidFill>
            <a:prstDash val="solid"/>
          </a:ln>
        </p:spPr>
        <p:txBody>
          <a:bodyPr/>
          <a:lstStyle/>
          <a:p>
            <a:endParaRPr lang="en-US"/>
          </a:p>
        </p:txBody>
      </p:sp>
      <p:sp>
        <p:nvSpPr>
          <p:cNvPr id="12" name="Text 10"/>
          <p:cNvSpPr/>
          <p:nvPr/>
        </p:nvSpPr>
        <p:spPr>
          <a:xfrm>
            <a:off x="1188720" y="3429000"/>
            <a:ext cx="4480560" cy="502920"/>
          </a:xfrm>
          <a:prstGeom prst="rect">
            <a:avLst/>
          </a:prstGeom>
          <a:noFill/>
          <a:ln/>
        </p:spPr>
        <p:txBody>
          <a:bodyPr wrap="square" lIns="0" tIns="0" rIns="0" bIns="0" rtlCol="0" anchor="ctr">
            <a:normAutofit/>
          </a:bodyPr>
          <a:lstStyle/>
          <a:p>
            <a:pPr marL="0" indent="0">
              <a:buNone/>
            </a:pPr>
            <a:r>
              <a:rPr lang="en-US" sz="1450" dirty="0">
                <a:solidFill>
                  <a:srgbClr val="1E293B"/>
                </a:solidFill>
                <a:latin typeface="Times New Roman" panose="02020603050405020304" pitchFamily="18" charset="0"/>
                <a:cs typeface="Times New Roman" panose="02020603050405020304" pitchFamily="18" charset="0"/>
              </a:rPr>
              <a:t>The current version focuses on structure checking, not a full independent numerical circuit solver.</a:t>
            </a:r>
            <a:endParaRPr lang="en-US" sz="1450" dirty="0">
              <a:latin typeface="Times New Roman" panose="02020603050405020304" pitchFamily="18" charset="0"/>
              <a:cs typeface="Times New Roman" panose="02020603050405020304" pitchFamily="18" charset="0"/>
            </a:endParaRPr>
          </a:p>
        </p:txBody>
      </p:sp>
      <p:sp>
        <p:nvSpPr>
          <p:cNvPr id="13" name="Shape 11"/>
          <p:cNvSpPr/>
          <p:nvPr/>
        </p:nvSpPr>
        <p:spPr>
          <a:xfrm>
            <a:off x="987552" y="4242816"/>
            <a:ext cx="73152" cy="73152"/>
          </a:xfrm>
          <a:prstGeom prst="ellipse">
            <a:avLst/>
          </a:prstGeom>
          <a:solidFill>
            <a:srgbClr val="7C3AED"/>
          </a:solidFill>
          <a:ln w="12700">
            <a:solidFill>
              <a:srgbClr val="7C3AED">
                <a:alpha val="0"/>
              </a:srgbClr>
            </a:solidFill>
            <a:prstDash val="solid"/>
          </a:ln>
        </p:spPr>
        <p:txBody>
          <a:bodyPr/>
          <a:lstStyle/>
          <a:p>
            <a:endParaRPr lang="en-US"/>
          </a:p>
        </p:txBody>
      </p:sp>
      <p:sp>
        <p:nvSpPr>
          <p:cNvPr id="14" name="Text 12"/>
          <p:cNvSpPr/>
          <p:nvPr/>
        </p:nvSpPr>
        <p:spPr>
          <a:xfrm>
            <a:off x="1188720" y="4160520"/>
            <a:ext cx="4480560" cy="502920"/>
          </a:xfrm>
          <a:prstGeom prst="rect">
            <a:avLst/>
          </a:prstGeom>
          <a:noFill/>
          <a:ln/>
        </p:spPr>
        <p:txBody>
          <a:bodyPr wrap="square" lIns="0" tIns="0" rIns="0" bIns="0" rtlCol="0" anchor="ctr">
            <a:normAutofit/>
          </a:bodyPr>
          <a:lstStyle/>
          <a:p>
            <a:pPr marL="0" indent="0">
              <a:buNone/>
            </a:pPr>
            <a:r>
              <a:rPr lang="en-US" sz="1450" dirty="0">
                <a:solidFill>
                  <a:srgbClr val="1E293B"/>
                </a:solidFill>
                <a:latin typeface="Times New Roman" panose="02020603050405020304" pitchFamily="18" charset="0"/>
                <a:cs typeface="Times New Roman" panose="02020603050405020304" pitchFamily="18" charset="0"/>
              </a:rPr>
              <a:t>Interactive wiring is still basic and should support more terminal-level control.</a:t>
            </a:r>
            <a:endParaRPr lang="en-US" sz="1450" dirty="0">
              <a:latin typeface="Times New Roman" panose="02020603050405020304" pitchFamily="18" charset="0"/>
              <a:cs typeface="Times New Roman" panose="02020603050405020304" pitchFamily="18" charset="0"/>
            </a:endParaRPr>
          </a:p>
        </p:txBody>
      </p:sp>
      <p:sp>
        <p:nvSpPr>
          <p:cNvPr id="15" name="Shape 13"/>
          <p:cNvSpPr/>
          <p:nvPr/>
        </p:nvSpPr>
        <p:spPr>
          <a:xfrm>
            <a:off x="987552" y="4974336"/>
            <a:ext cx="73152" cy="73152"/>
          </a:xfrm>
          <a:prstGeom prst="ellipse">
            <a:avLst/>
          </a:prstGeom>
          <a:solidFill>
            <a:srgbClr val="7C3AED"/>
          </a:solidFill>
          <a:ln w="12700">
            <a:solidFill>
              <a:srgbClr val="7C3AED">
                <a:alpha val="0"/>
              </a:srgbClr>
            </a:solidFill>
            <a:prstDash val="solid"/>
          </a:ln>
        </p:spPr>
        <p:txBody>
          <a:bodyPr/>
          <a:lstStyle/>
          <a:p>
            <a:endParaRPr lang="en-US"/>
          </a:p>
        </p:txBody>
      </p:sp>
      <p:sp>
        <p:nvSpPr>
          <p:cNvPr id="16" name="Text 14"/>
          <p:cNvSpPr/>
          <p:nvPr/>
        </p:nvSpPr>
        <p:spPr>
          <a:xfrm>
            <a:off x="1188720" y="4892040"/>
            <a:ext cx="4480560" cy="502920"/>
          </a:xfrm>
          <a:prstGeom prst="rect">
            <a:avLst/>
          </a:prstGeom>
          <a:noFill/>
          <a:ln/>
        </p:spPr>
        <p:txBody>
          <a:bodyPr wrap="square" lIns="0" tIns="0" rIns="0" bIns="0" rtlCol="0" anchor="ctr">
            <a:normAutofit/>
          </a:bodyPr>
          <a:lstStyle/>
          <a:p>
            <a:pPr marL="0" indent="0">
              <a:buNone/>
            </a:pPr>
            <a:r>
              <a:rPr lang="en-US" sz="1450" dirty="0">
                <a:solidFill>
                  <a:srgbClr val="1E293B"/>
                </a:solidFill>
                <a:latin typeface="Times New Roman" panose="02020603050405020304" pitchFamily="18" charset="0"/>
                <a:cs typeface="Times New Roman" panose="02020603050405020304" pitchFamily="18" charset="0"/>
              </a:rPr>
              <a:t>The component library and supported PEE problem types are still limited.</a:t>
            </a:r>
            <a:endParaRPr lang="en-US" sz="1450" dirty="0">
              <a:latin typeface="Times New Roman" panose="02020603050405020304" pitchFamily="18" charset="0"/>
              <a:cs typeface="Times New Roman" panose="02020603050405020304" pitchFamily="18" charset="0"/>
            </a:endParaRPr>
          </a:p>
        </p:txBody>
      </p:sp>
      <p:sp>
        <p:nvSpPr>
          <p:cNvPr id="17" name="Shape 15"/>
          <p:cNvSpPr/>
          <p:nvPr/>
        </p:nvSpPr>
        <p:spPr>
          <a:xfrm>
            <a:off x="6263640" y="1856232"/>
            <a:ext cx="5212080" cy="3977640"/>
          </a:xfrm>
          <a:prstGeom prst="roundRect">
            <a:avLst>
              <a:gd name="adj" fmla="val 2759"/>
            </a:avLst>
          </a:prstGeom>
          <a:solidFill>
            <a:srgbClr val="FFFFFF"/>
          </a:solidFill>
          <a:ln w="12700">
            <a:solidFill>
              <a:srgbClr val="BAE6FD"/>
            </a:solidFill>
            <a:prstDash val="solid"/>
          </a:ln>
        </p:spPr>
        <p:txBody>
          <a:bodyPr/>
          <a:lstStyle/>
          <a:p>
            <a:endParaRPr lang="en-US"/>
          </a:p>
        </p:txBody>
      </p:sp>
      <p:sp>
        <p:nvSpPr>
          <p:cNvPr id="18" name="Shape 16"/>
          <p:cNvSpPr/>
          <p:nvPr/>
        </p:nvSpPr>
        <p:spPr>
          <a:xfrm>
            <a:off x="6263640" y="1856232"/>
            <a:ext cx="5212080" cy="73152"/>
          </a:xfrm>
          <a:prstGeom prst="rect">
            <a:avLst/>
          </a:prstGeom>
          <a:solidFill>
            <a:srgbClr val="0EA5E9"/>
          </a:solidFill>
          <a:ln w="12700">
            <a:solidFill>
              <a:srgbClr val="0EA5E9">
                <a:alpha val="0"/>
              </a:srgbClr>
            </a:solidFill>
            <a:prstDash val="solid"/>
          </a:ln>
        </p:spPr>
        <p:txBody>
          <a:bodyPr/>
          <a:lstStyle/>
          <a:p>
            <a:endParaRPr lang="en-US"/>
          </a:p>
        </p:txBody>
      </p:sp>
      <p:sp>
        <p:nvSpPr>
          <p:cNvPr id="19" name="Text 17"/>
          <p:cNvSpPr/>
          <p:nvPr/>
        </p:nvSpPr>
        <p:spPr>
          <a:xfrm>
            <a:off x="6528816" y="2148840"/>
            <a:ext cx="4389120" cy="256032"/>
          </a:xfrm>
          <a:prstGeom prst="rect">
            <a:avLst/>
          </a:prstGeom>
          <a:noFill/>
          <a:ln/>
        </p:spPr>
        <p:txBody>
          <a:bodyPr wrap="square" lIns="0" tIns="0" rIns="0" bIns="0" rtlCol="0" anchor="ctr"/>
          <a:lstStyle/>
          <a:p>
            <a:pPr marL="0" indent="0">
              <a:buNone/>
            </a:pPr>
            <a:r>
              <a:rPr lang="en-US" sz="1800" b="1" dirty="0">
                <a:solidFill>
                  <a:srgbClr val="0F172A"/>
                </a:solidFill>
                <a:latin typeface="Times New Roman" panose="02020603050405020304" pitchFamily="18" charset="0"/>
                <a:cs typeface="Times New Roman" panose="02020603050405020304" pitchFamily="18" charset="0"/>
              </a:rPr>
              <a:t>Future Enhancements</a:t>
            </a:r>
            <a:endParaRPr lang="en-US" sz="1800" dirty="0">
              <a:latin typeface="Times New Roman" panose="02020603050405020304" pitchFamily="18" charset="0"/>
              <a:cs typeface="Times New Roman" panose="02020603050405020304" pitchFamily="18" charset="0"/>
            </a:endParaRPr>
          </a:p>
        </p:txBody>
      </p:sp>
      <p:sp>
        <p:nvSpPr>
          <p:cNvPr id="20" name="Shape 18"/>
          <p:cNvSpPr/>
          <p:nvPr/>
        </p:nvSpPr>
        <p:spPr>
          <a:xfrm>
            <a:off x="6556248" y="2779776"/>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21" name="Text 19"/>
          <p:cNvSpPr/>
          <p:nvPr/>
        </p:nvSpPr>
        <p:spPr>
          <a:xfrm>
            <a:off x="6757416" y="2697480"/>
            <a:ext cx="4480560" cy="502920"/>
          </a:xfrm>
          <a:prstGeom prst="rect">
            <a:avLst/>
          </a:prstGeom>
          <a:noFill/>
          <a:ln/>
        </p:spPr>
        <p:txBody>
          <a:bodyPr wrap="square" lIns="0" tIns="0" rIns="0" bIns="0" rtlCol="0" anchor="ctr">
            <a:normAutofit/>
          </a:bodyPr>
          <a:lstStyle/>
          <a:p>
            <a:pPr marL="0" indent="0">
              <a:buNone/>
            </a:pPr>
            <a:r>
              <a:rPr lang="en-US" sz="1450" dirty="0">
                <a:solidFill>
                  <a:srgbClr val="1E293B"/>
                </a:solidFill>
                <a:latin typeface="Times New Roman" panose="02020603050405020304" pitchFamily="18" charset="0"/>
                <a:cs typeface="Times New Roman" panose="02020603050405020304" pitchFamily="18" charset="0"/>
              </a:rPr>
              <a:t>Develop an independent circuit solver to verify AI-generated answers.</a:t>
            </a:r>
            <a:endParaRPr lang="en-US" sz="1450" dirty="0">
              <a:latin typeface="Times New Roman" panose="02020603050405020304" pitchFamily="18" charset="0"/>
              <a:cs typeface="Times New Roman" panose="02020603050405020304" pitchFamily="18" charset="0"/>
            </a:endParaRPr>
          </a:p>
        </p:txBody>
      </p:sp>
      <p:sp>
        <p:nvSpPr>
          <p:cNvPr id="22" name="Shape 20"/>
          <p:cNvSpPr/>
          <p:nvPr/>
        </p:nvSpPr>
        <p:spPr>
          <a:xfrm>
            <a:off x="6556248" y="3511296"/>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23" name="Text 21"/>
          <p:cNvSpPr/>
          <p:nvPr/>
        </p:nvSpPr>
        <p:spPr>
          <a:xfrm>
            <a:off x="6757416" y="3429000"/>
            <a:ext cx="4480560" cy="502920"/>
          </a:xfrm>
          <a:prstGeom prst="rect">
            <a:avLst/>
          </a:prstGeom>
          <a:noFill/>
          <a:ln/>
        </p:spPr>
        <p:txBody>
          <a:bodyPr wrap="square" lIns="0" tIns="0" rIns="0" bIns="0" rtlCol="0" anchor="ctr">
            <a:normAutofit/>
          </a:bodyPr>
          <a:lstStyle/>
          <a:p>
            <a:pPr marL="0" indent="0">
              <a:buNone/>
            </a:pPr>
            <a:r>
              <a:rPr lang="en-US" sz="1450" dirty="0">
                <a:solidFill>
                  <a:srgbClr val="1E293B"/>
                </a:solidFill>
                <a:latin typeface="Times New Roman" panose="02020603050405020304" pitchFamily="18" charset="0"/>
                <a:cs typeface="Times New Roman" panose="02020603050405020304" pitchFamily="18" charset="0"/>
              </a:rPr>
              <a:t>Expand the component library for more PEE circuit types.</a:t>
            </a:r>
            <a:endParaRPr lang="en-US" sz="1450" dirty="0">
              <a:latin typeface="Times New Roman" panose="02020603050405020304" pitchFamily="18" charset="0"/>
              <a:cs typeface="Times New Roman" panose="02020603050405020304" pitchFamily="18" charset="0"/>
            </a:endParaRPr>
          </a:p>
        </p:txBody>
      </p:sp>
      <p:sp>
        <p:nvSpPr>
          <p:cNvPr id="24" name="Shape 22"/>
          <p:cNvSpPr/>
          <p:nvPr/>
        </p:nvSpPr>
        <p:spPr>
          <a:xfrm>
            <a:off x="6556248" y="4242816"/>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25" name="Text 23"/>
          <p:cNvSpPr/>
          <p:nvPr/>
        </p:nvSpPr>
        <p:spPr>
          <a:xfrm>
            <a:off x="6757416" y="4160520"/>
            <a:ext cx="4480560" cy="502920"/>
          </a:xfrm>
          <a:prstGeom prst="rect">
            <a:avLst/>
          </a:prstGeom>
          <a:noFill/>
          <a:ln/>
        </p:spPr>
        <p:txBody>
          <a:bodyPr wrap="square" lIns="0" tIns="0" rIns="0" bIns="0" rtlCol="0" anchor="ctr">
            <a:normAutofit/>
          </a:bodyPr>
          <a:lstStyle/>
          <a:p>
            <a:pPr marL="0" indent="0">
              <a:buNone/>
            </a:pPr>
            <a:r>
              <a:rPr lang="en-US" sz="1450" dirty="0">
                <a:solidFill>
                  <a:srgbClr val="1E293B"/>
                </a:solidFill>
                <a:latin typeface="Times New Roman" panose="02020603050405020304" pitchFamily="18" charset="0"/>
                <a:cs typeface="Times New Roman" panose="02020603050405020304" pitchFamily="18" charset="0"/>
              </a:rPr>
              <a:t>Improve wiring controls and validation at the terminal level.</a:t>
            </a:r>
            <a:endParaRPr lang="en-US" sz="1450" dirty="0">
              <a:latin typeface="Times New Roman" panose="02020603050405020304" pitchFamily="18" charset="0"/>
              <a:cs typeface="Times New Roman" panose="02020603050405020304" pitchFamily="18" charset="0"/>
            </a:endParaRPr>
          </a:p>
        </p:txBody>
      </p:sp>
      <p:sp>
        <p:nvSpPr>
          <p:cNvPr id="26" name="Shape 24"/>
          <p:cNvSpPr/>
          <p:nvPr/>
        </p:nvSpPr>
        <p:spPr>
          <a:xfrm>
            <a:off x="6556248" y="4974336"/>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27" name="Text 25"/>
          <p:cNvSpPr/>
          <p:nvPr/>
        </p:nvSpPr>
        <p:spPr>
          <a:xfrm>
            <a:off x="6757416" y="4892040"/>
            <a:ext cx="4480560" cy="502920"/>
          </a:xfrm>
          <a:prstGeom prst="rect">
            <a:avLst/>
          </a:prstGeom>
          <a:noFill/>
          <a:ln/>
        </p:spPr>
        <p:txBody>
          <a:bodyPr wrap="square" lIns="0" tIns="0" rIns="0" bIns="0" rtlCol="0" anchor="ctr">
            <a:normAutofit/>
          </a:bodyPr>
          <a:lstStyle/>
          <a:p>
            <a:pPr marL="0" indent="0">
              <a:buNone/>
            </a:pPr>
            <a:r>
              <a:rPr lang="en-US" sz="1450" dirty="0">
                <a:solidFill>
                  <a:srgbClr val="1E293B"/>
                </a:solidFill>
                <a:latin typeface="Times New Roman" panose="02020603050405020304" pitchFamily="18" charset="0"/>
                <a:cs typeface="Times New Roman" panose="02020603050405020304" pitchFamily="18" charset="0"/>
              </a:rPr>
              <a:t>Add more practice modes, examples, and clearer feedback for beginners.</a:t>
            </a:r>
            <a:endParaRPr lang="en-US" sz="1450" dirty="0">
              <a:latin typeface="Times New Roman" panose="02020603050405020304" pitchFamily="18" charset="0"/>
              <a:cs typeface="Times New Roman" panose="02020603050405020304" pitchFamily="18" charset="0"/>
            </a:endParaRPr>
          </a:p>
        </p:txBody>
      </p:sp>
      <p:sp>
        <p:nvSpPr>
          <p:cNvPr id="28" name="Text 26"/>
          <p:cNvSpPr/>
          <p:nvPr/>
        </p:nvSpPr>
        <p:spPr>
          <a:xfrm>
            <a:off x="594360" y="6473952"/>
            <a:ext cx="292608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PEE Project | 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A5E9"/>
          </a:solidFill>
          <a:ln w="12700">
            <a:solidFill>
              <a:srgbClr val="0EA5E9">
                <a:alpha val="0"/>
              </a:srgbClr>
            </a:solidFill>
            <a:prstDash val="solid"/>
          </a:ln>
        </p:spPr>
        <p:txBody>
          <a:bodyPr/>
          <a:lstStyle/>
          <a:p>
            <a:endParaRPr lang="en-US"/>
          </a:p>
        </p:txBody>
      </p:sp>
      <p:sp>
        <p:nvSpPr>
          <p:cNvPr id="3" name="Text 1"/>
          <p:cNvSpPr/>
          <p:nvPr/>
        </p:nvSpPr>
        <p:spPr>
          <a:xfrm>
            <a:off x="621792" y="502920"/>
            <a:ext cx="8961120" cy="475488"/>
          </a:xfrm>
          <a:prstGeom prst="rect">
            <a:avLst/>
          </a:prstGeom>
          <a:noFill/>
          <a:ln/>
        </p:spPr>
        <p:txBody>
          <a:bodyPr wrap="square" lIns="0" tIns="0" rIns="0" bIns="0" rtlCol="0" anchor="ctr">
            <a:normAutofit/>
          </a:bodyPr>
          <a:lstStyle/>
          <a:p>
            <a:pPr marL="0" indent="0">
              <a:buNone/>
            </a:pPr>
            <a:r>
              <a:rPr lang="en-US" sz="3000" b="1" dirty="0">
                <a:solidFill>
                  <a:srgbClr val="0F172A"/>
                </a:solidFill>
                <a:latin typeface="Times New Roman" panose="02020603050405020304" pitchFamily="18" charset="0"/>
                <a:ea typeface="Aptos Display" pitchFamily="34" charset="-122"/>
                <a:cs typeface="Times New Roman" panose="02020603050405020304" pitchFamily="18" charset="0"/>
              </a:rPr>
              <a:t>Conclusion</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649224" y="1084685"/>
            <a:ext cx="6175823" cy="237744"/>
          </a:xfrm>
          <a:prstGeom prst="rect">
            <a:avLst/>
          </a:prstGeom>
          <a:noFill/>
          <a:ln/>
        </p:spPr>
        <p:txBody>
          <a:bodyPr wrap="square" lIns="0" tIns="0" rIns="0" bIns="0" rtlCol="0" anchor="ctr">
            <a:noAutofit/>
          </a:bodyPr>
          <a:lstStyle/>
          <a:p>
            <a:pPr marL="0" indent="0">
              <a:buNone/>
            </a:pPr>
            <a:r>
              <a:rPr lang="en-US" dirty="0">
                <a:solidFill>
                  <a:srgbClr val="0369A1"/>
                </a:solidFill>
                <a:latin typeface="Times New Roman" panose="02020603050405020304" pitchFamily="18" charset="0"/>
                <a:cs typeface="Times New Roman" panose="02020603050405020304" pitchFamily="18" charset="0"/>
              </a:rPr>
              <a:t>A simpler learning tool for students new to electrical circuits.</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640080" y="1491507"/>
            <a:ext cx="5303520" cy="201168"/>
          </a:xfrm>
          <a:prstGeom prst="rect">
            <a:avLst/>
          </a:prstGeom>
          <a:noFill/>
          <a:ln/>
        </p:spPr>
        <p:txBody>
          <a:bodyPr wrap="square" lIns="0" tIns="0" rIns="0" bIns="0" rtlCol="0" anchor="ctr">
            <a:noAutofit/>
          </a:bodyPr>
          <a:lstStyle/>
          <a:p>
            <a:pPr marL="0" indent="0">
              <a:buNone/>
            </a:pPr>
            <a:r>
              <a:rPr lang="en-US" sz="2000" b="1" dirty="0">
                <a:solidFill>
                  <a:srgbClr val="0369A1"/>
                </a:solidFill>
                <a:latin typeface="Times New Roman" panose="02020603050405020304" pitchFamily="18" charset="0"/>
                <a:cs typeface="Times New Roman" panose="02020603050405020304" pitchFamily="18" charset="0"/>
              </a:rPr>
              <a:t>6. CONCLUSION</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740664" y="1901952"/>
            <a:ext cx="5760720" cy="530352"/>
          </a:xfrm>
          <a:prstGeom prst="rect">
            <a:avLst/>
          </a:prstGeom>
          <a:noFill/>
          <a:ln/>
        </p:spPr>
        <p:txBody>
          <a:bodyPr wrap="square" lIns="0" tIns="0" rIns="0" bIns="0" rtlCol="0" anchor="ctr">
            <a:normAutofit lnSpcReduction="10000"/>
          </a:bodyPr>
          <a:lstStyle/>
          <a:p>
            <a:pPr marL="0" indent="0">
              <a:buNone/>
            </a:pPr>
            <a:r>
              <a:rPr lang="en-US" sz="1800" dirty="0">
                <a:solidFill>
                  <a:srgbClr val="1E293B"/>
                </a:solidFill>
                <a:latin typeface="Times New Roman" panose="02020603050405020304" pitchFamily="18" charset="0"/>
                <a:cs typeface="Times New Roman" panose="02020603050405020304" pitchFamily="18" charset="0"/>
              </a:rPr>
              <a:t>This project does not aim to replace professional software such as LTspice, Proteus, or Multisim.</a:t>
            </a:r>
            <a:endParaRPr lang="en-US" sz="1800" dirty="0">
              <a:latin typeface="Times New Roman" panose="02020603050405020304" pitchFamily="18" charset="0"/>
              <a:cs typeface="Times New Roman" panose="02020603050405020304" pitchFamily="18" charset="0"/>
            </a:endParaRPr>
          </a:p>
        </p:txBody>
      </p:sp>
      <p:sp>
        <p:nvSpPr>
          <p:cNvPr id="7" name="Text 5"/>
          <p:cNvSpPr/>
          <p:nvPr/>
        </p:nvSpPr>
        <p:spPr>
          <a:xfrm>
            <a:off x="740664" y="2606040"/>
            <a:ext cx="2926080" cy="256032"/>
          </a:xfrm>
          <a:prstGeom prst="rect">
            <a:avLst/>
          </a:prstGeom>
          <a:noFill/>
          <a:ln/>
        </p:spPr>
        <p:txBody>
          <a:bodyPr wrap="square" lIns="0" tIns="0" rIns="0" bIns="0" rtlCol="0" anchor="ctr"/>
          <a:lstStyle/>
          <a:p>
            <a:pPr marL="0" indent="0">
              <a:buNone/>
            </a:pPr>
            <a:r>
              <a:rPr lang="en-US" b="1" dirty="0">
                <a:solidFill>
                  <a:srgbClr val="0F172A"/>
                </a:solidFill>
                <a:latin typeface="Times New Roman" panose="02020603050405020304" pitchFamily="18" charset="0"/>
                <a:cs typeface="Times New Roman" panose="02020603050405020304" pitchFamily="18" charset="0"/>
              </a:rPr>
              <a:t>Instead, it combines:</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749808" y="3145536"/>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9" name="Text 7"/>
          <p:cNvSpPr/>
          <p:nvPr/>
        </p:nvSpPr>
        <p:spPr>
          <a:xfrm>
            <a:off x="978408" y="3063240"/>
            <a:ext cx="4206240" cy="347472"/>
          </a:xfrm>
          <a:prstGeom prst="rect">
            <a:avLst/>
          </a:prstGeom>
          <a:noFill/>
          <a:ln/>
        </p:spPr>
        <p:txBody>
          <a:bodyPr wrap="square" lIns="0" tIns="0" rIns="0" bIns="0" rtlCol="0" anchor="ctr">
            <a:noAutofit/>
          </a:bodyPr>
          <a:lstStyle/>
          <a:p>
            <a:pPr marL="0" indent="0">
              <a:buNone/>
            </a:pPr>
            <a:r>
              <a:rPr lang="en-US" sz="2800" dirty="0">
                <a:solidFill>
                  <a:srgbClr val="1E293B"/>
                </a:solidFill>
                <a:latin typeface="Times New Roman" panose="02020603050405020304" pitchFamily="18" charset="0"/>
                <a:cs typeface="Times New Roman" panose="02020603050405020304" pitchFamily="18" charset="0"/>
              </a:rPr>
              <a:t>Visual circuit drawing</a:t>
            </a:r>
            <a:endParaRPr lang="en-US" sz="2800" dirty="0">
              <a:latin typeface="Times New Roman" panose="02020603050405020304" pitchFamily="18" charset="0"/>
              <a:cs typeface="Times New Roman" panose="02020603050405020304" pitchFamily="18" charset="0"/>
            </a:endParaRPr>
          </a:p>
        </p:txBody>
      </p:sp>
      <p:sp>
        <p:nvSpPr>
          <p:cNvPr id="10" name="Shape 8"/>
          <p:cNvSpPr/>
          <p:nvPr/>
        </p:nvSpPr>
        <p:spPr>
          <a:xfrm>
            <a:off x="749808" y="3630168"/>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11" name="Text 9"/>
          <p:cNvSpPr/>
          <p:nvPr/>
        </p:nvSpPr>
        <p:spPr>
          <a:xfrm>
            <a:off x="978408" y="3547872"/>
            <a:ext cx="5148072" cy="347472"/>
          </a:xfrm>
          <a:prstGeom prst="rect">
            <a:avLst/>
          </a:prstGeom>
          <a:noFill/>
          <a:ln/>
        </p:spPr>
        <p:txBody>
          <a:bodyPr wrap="square" lIns="0" tIns="0" rIns="0" bIns="0" rtlCol="0" anchor="ctr">
            <a:noAutofit/>
          </a:bodyPr>
          <a:lstStyle/>
          <a:p>
            <a:pPr marL="0" indent="0">
              <a:buNone/>
            </a:pPr>
            <a:r>
              <a:rPr lang="en-US" sz="2800" dirty="0">
                <a:solidFill>
                  <a:srgbClr val="1E293B"/>
                </a:solidFill>
                <a:latin typeface="Times New Roman" panose="02020603050405020304" pitchFamily="18" charset="0"/>
                <a:cs typeface="Times New Roman" panose="02020603050405020304" pitchFamily="18" charset="0"/>
              </a:rPr>
              <a:t>Automated structure checking</a:t>
            </a:r>
            <a:endParaRPr lang="en-US" sz="2800" dirty="0">
              <a:latin typeface="Times New Roman" panose="02020603050405020304" pitchFamily="18" charset="0"/>
              <a:cs typeface="Times New Roman" panose="02020603050405020304" pitchFamily="18" charset="0"/>
            </a:endParaRPr>
          </a:p>
        </p:txBody>
      </p:sp>
      <p:sp>
        <p:nvSpPr>
          <p:cNvPr id="12" name="Shape 10"/>
          <p:cNvSpPr/>
          <p:nvPr/>
        </p:nvSpPr>
        <p:spPr>
          <a:xfrm>
            <a:off x="749808" y="4114800"/>
            <a:ext cx="73152" cy="73152"/>
          </a:xfrm>
          <a:prstGeom prst="ellipse">
            <a:avLst/>
          </a:prstGeom>
          <a:solidFill>
            <a:srgbClr val="0EA5E9"/>
          </a:solidFill>
          <a:ln w="12700">
            <a:solidFill>
              <a:srgbClr val="0EA5E9">
                <a:alpha val="0"/>
              </a:srgbClr>
            </a:solidFill>
            <a:prstDash val="solid"/>
          </a:ln>
        </p:spPr>
        <p:txBody>
          <a:bodyPr/>
          <a:lstStyle/>
          <a:p>
            <a:endParaRPr lang="en-US"/>
          </a:p>
        </p:txBody>
      </p:sp>
      <p:sp>
        <p:nvSpPr>
          <p:cNvPr id="13" name="Text 11"/>
          <p:cNvSpPr/>
          <p:nvPr/>
        </p:nvSpPr>
        <p:spPr>
          <a:xfrm>
            <a:off x="978408" y="4032504"/>
            <a:ext cx="4206240" cy="347472"/>
          </a:xfrm>
          <a:prstGeom prst="rect">
            <a:avLst/>
          </a:prstGeom>
          <a:noFill/>
          <a:ln/>
        </p:spPr>
        <p:txBody>
          <a:bodyPr wrap="square" lIns="0" tIns="0" rIns="0" bIns="0" rtlCol="0" anchor="ctr">
            <a:noAutofit/>
          </a:bodyPr>
          <a:lstStyle/>
          <a:p>
            <a:pPr marL="0" indent="0">
              <a:buNone/>
            </a:pPr>
            <a:r>
              <a:rPr lang="en-US" sz="2800" dirty="0">
                <a:solidFill>
                  <a:srgbClr val="1E293B"/>
                </a:solidFill>
                <a:latin typeface="Times New Roman" panose="02020603050405020304" pitchFamily="18" charset="0"/>
                <a:cs typeface="Times New Roman" panose="02020603050405020304" pitchFamily="18" charset="0"/>
              </a:rPr>
              <a:t>AI-assisted explanation</a:t>
            </a:r>
            <a:endParaRPr lang="en-US" sz="2800" dirty="0">
              <a:latin typeface="Times New Roman" panose="02020603050405020304" pitchFamily="18" charset="0"/>
              <a:cs typeface="Times New Roman" panose="02020603050405020304" pitchFamily="18" charset="0"/>
            </a:endParaRPr>
          </a:p>
        </p:txBody>
      </p:sp>
      <p:sp>
        <p:nvSpPr>
          <p:cNvPr id="14" name="Shape 12"/>
          <p:cNvSpPr/>
          <p:nvPr/>
        </p:nvSpPr>
        <p:spPr>
          <a:xfrm>
            <a:off x="594360" y="4727448"/>
            <a:ext cx="7680960" cy="1207008"/>
          </a:xfrm>
          <a:prstGeom prst="roundRect">
            <a:avLst>
              <a:gd name="adj" fmla="val 10667"/>
            </a:avLst>
          </a:prstGeom>
          <a:solidFill>
            <a:srgbClr val="E0F2FE"/>
          </a:solidFill>
          <a:ln w="12700">
            <a:solidFill>
              <a:srgbClr val="E0F2FE">
                <a:alpha val="0"/>
              </a:srgbClr>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960120" y="5166360"/>
            <a:ext cx="5166360" cy="256032"/>
          </a:xfrm>
          <a:prstGeom prst="rect">
            <a:avLst/>
          </a:prstGeom>
          <a:noFill/>
          <a:ln/>
        </p:spPr>
        <p:txBody>
          <a:bodyPr wrap="square" lIns="0" tIns="0" rIns="0" bIns="0" rtlCol="0" anchor="ctr">
            <a:noAutofit/>
          </a:bodyPr>
          <a:lstStyle/>
          <a:p>
            <a:pPr marL="0" indent="0">
              <a:buNone/>
            </a:pPr>
            <a:r>
              <a:rPr lang="en-US" sz="2000" b="1" dirty="0">
                <a:solidFill>
                  <a:srgbClr val="0369A1"/>
                </a:solidFill>
                <a:latin typeface="Times New Roman" panose="02020603050405020304" pitchFamily="18" charset="0"/>
                <a:cs typeface="Times New Roman" panose="02020603050405020304" pitchFamily="18" charset="0"/>
              </a:rPr>
              <a:t>Main value: helping students understand circuit structure and reasoning before moving to advanced simulation tools.</a:t>
            </a:r>
            <a:endParaRPr lang="en-US" sz="2000" dirty="0">
              <a:latin typeface="Times New Roman" panose="02020603050405020304" pitchFamily="18" charset="0"/>
              <a:cs typeface="Times New Roman" panose="02020603050405020304" pitchFamily="18" charset="0"/>
            </a:endParaRPr>
          </a:p>
        </p:txBody>
      </p:sp>
      <p:sp>
        <p:nvSpPr>
          <p:cNvPr id="19" name="Text 17"/>
          <p:cNvSpPr/>
          <p:nvPr/>
        </p:nvSpPr>
        <p:spPr>
          <a:xfrm>
            <a:off x="594360" y="6473952"/>
            <a:ext cx="292608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PEE Project | 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C11A9358-BEF0-D121-3384-B3421F96D6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BB8E929-9E2F-83C7-4465-FB322E478BC2}"/>
              </a:ext>
            </a:extLst>
          </p:cNvPr>
          <p:cNvSpPr/>
          <p:nvPr/>
        </p:nvSpPr>
        <p:spPr>
          <a:xfrm>
            <a:off x="0" y="0"/>
            <a:ext cx="12191695" cy="164592"/>
          </a:xfrm>
          <a:prstGeom prst="rect">
            <a:avLst/>
          </a:prstGeom>
          <a:solidFill>
            <a:srgbClr val="0EA5E9"/>
          </a:solidFill>
          <a:ln w="12700">
            <a:solidFill>
              <a:srgbClr val="0EA5E9">
                <a:alpha val="0"/>
              </a:srgbClr>
            </a:solidFill>
            <a:prstDash val="solid"/>
          </a:ln>
        </p:spPr>
        <p:txBody>
          <a:bodyPr/>
          <a:lstStyle/>
          <a:p>
            <a:endParaRPr lang="en-US"/>
          </a:p>
        </p:txBody>
      </p:sp>
      <p:sp>
        <p:nvSpPr>
          <p:cNvPr id="14" name="Shape 12">
            <a:extLst>
              <a:ext uri="{FF2B5EF4-FFF2-40B4-BE49-F238E27FC236}">
                <a16:creationId xmlns:a16="http://schemas.microsoft.com/office/drawing/2014/main" id="{4CC62344-0BE1-3F91-BDAA-CB7135A3DBF9}"/>
              </a:ext>
            </a:extLst>
          </p:cNvPr>
          <p:cNvSpPr/>
          <p:nvPr/>
        </p:nvSpPr>
        <p:spPr>
          <a:xfrm>
            <a:off x="370073" y="328406"/>
            <a:ext cx="11120312" cy="5976207"/>
          </a:xfrm>
          <a:prstGeom prst="roundRect">
            <a:avLst>
              <a:gd name="adj" fmla="val 10667"/>
            </a:avLst>
          </a:prstGeom>
          <a:solidFill>
            <a:srgbClr val="E0F2FE"/>
          </a:solidFill>
          <a:ln w="12700">
            <a:solidFill>
              <a:srgbClr val="E0F2FE">
                <a:alpha val="0"/>
              </a:srgbClr>
            </a:solidFill>
            <a:prstDash val="solid"/>
          </a:ln>
        </p:spPr>
        <p:txBody>
          <a:bodyPr/>
          <a:lstStyle/>
          <a:p>
            <a:endParaRPr lang="en-US"/>
          </a:p>
        </p:txBody>
      </p:sp>
      <p:sp>
        <p:nvSpPr>
          <p:cNvPr id="15" name="Text 13">
            <a:extLst>
              <a:ext uri="{FF2B5EF4-FFF2-40B4-BE49-F238E27FC236}">
                <a16:creationId xmlns:a16="http://schemas.microsoft.com/office/drawing/2014/main" id="{3914E079-CBAE-9740-E361-F63A3AB096BC}"/>
              </a:ext>
            </a:extLst>
          </p:cNvPr>
          <p:cNvSpPr/>
          <p:nvPr/>
        </p:nvSpPr>
        <p:spPr>
          <a:xfrm>
            <a:off x="1018923" y="2595167"/>
            <a:ext cx="9822611" cy="423558"/>
          </a:xfrm>
          <a:prstGeom prst="rect">
            <a:avLst/>
          </a:prstGeom>
          <a:noFill/>
          <a:ln/>
        </p:spPr>
        <p:txBody>
          <a:bodyPr wrap="square" lIns="0" tIns="0" rIns="0" bIns="0" rtlCol="0" anchor="ctr">
            <a:noAutofit/>
          </a:bodyPr>
          <a:lstStyle/>
          <a:p>
            <a:pPr algn="ctr"/>
            <a:r>
              <a:rPr lang="en-US" sz="6000" b="1" dirty="0">
                <a:solidFill>
                  <a:srgbClr val="0369A1"/>
                </a:solidFill>
                <a:latin typeface="Times New Roman" panose="02020603050405020304" pitchFamily="18" charset="0"/>
                <a:cs typeface="Times New Roman" panose="02020603050405020304" pitchFamily="18" charset="0"/>
              </a:rPr>
              <a:t>Thank You</a:t>
            </a:r>
          </a:p>
          <a:p>
            <a:pPr algn="ctr"/>
            <a:r>
              <a:rPr lang="en-US" sz="6000" b="1" dirty="0">
                <a:solidFill>
                  <a:srgbClr val="0369A1"/>
                </a:solidFill>
                <a:latin typeface="Times New Roman" panose="02020603050405020304" pitchFamily="18" charset="0"/>
                <a:cs typeface="Times New Roman" panose="02020603050405020304" pitchFamily="18" charset="0"/>
              </a:rPr>
              <a:t>For your time and attention</a:t>
            </a:r>
            <a:endParaRPr lang="en-US" sz="6000" dirty="0">
              <a:latin typeface="Times New Roman" panose="02020603050405020304" pitchFamily="18" charset="0"/>
              <a:cs typeface="Times New Roman" panose="02020603050405020304" pitchFamily="18" charset="0"/>
            </a:endParaRPr>
          </a:p>
          <a:p>
            <a:br>
              <a:rPr lang="en-US" sz="6000" dirty="0">
                <a:latin typeface="Times New Roman" panose="02020603050405020304" pitchFamily="18" charset="0"/>
                <a:cs typeface="Times New Roman" panose="02020603050405020304" pitchFamily="18" charset="0"/>
              </a:rPr>
            </a:br>
            <a:endParaRPr lang="en-US" sz="6000" dirty="0">
              <a:latin typeface="Times New Roman" panose="02020603050405020304" pitchFamily="18" charset="0"/>
              <a:cs typeface="Times New Roman" panose="02020603050405020304" pitchFamily="18" charset="0"/>
            </a:endParaRPr>
          </a:p>
        </p:txBody>
      </p:sp>
      <p:pic>
        <p:nvPicPr>
          <p:cNvPr id="17" name="Picture 16" descr="image.png">
            <a:extLst>
              <a:ext uri="{FF2B5EF4-FFF2-40B4-BE49-F238E27FC236}">
                <a16:creationId xmlns:a16="http://schemas.microsoft.com/office/drawing/2014/main" id="{7C1E508D-D5FE-626A-71DC-AB441085C3FD}"/>
              </a:ext>
            </a:extLst>
          </p:cNvPr>
          <p:cNvPicPr>
            <a:picLocks noChangeAspect="1"/>
          </p:cNvPicPr>
          <p:nvPr/>
        </p:nvPicPr>
        <p:blipFill>
          <a:blip r:embed="rId3"/>
          <a:stretch>
            <a:fillRect/>
          </a:stretch>
        </p:blipFill>
        <p:spPr>
          <a:xfrm>
            <a:off x="2739353" y="3182539"/>
            <a:ext cx="6381750" cy="638175"/>
          </a:xfrm>
          <a:prstGeom prst="rect">
            <a:avLst/>
          </a:prstGeom>
        </p:spPr>
      </p:pic>
    </p:spTree>
    <p:extLst>
      <p:ext uri="{BB962C8B-B14F-4D97-AF65-F5344CB8AC3E}">
        <p14:creationId xmlns:p14="http://schemas.microsoft.com/office/powerpoint/2010/main" val="2903430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1701</Words>
  <Application>Microsoft Office PowerPoint</Application>
  <PresentationFormat>Widescreen</PresentationFormat>
  <Paragraphs>129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Space Grotesk</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PEE Learning Support Application - Updated</dc:title>
  <dc:subject>PEE Project Presentation</dc:subject>
  <dc:creator>OpenAI</dc:creator>
  <cp:lastModifiedBy>Quân Nguyễn</cp:lastModifiedBy>
  <cp:revision>6</cp:revision>
  <dcterms:created xsi:type="dcterms:W3CDTF">2026-08-12T14:58:58Z</dcterms:created>
  <dcterms:modified xsi:type="dcterms:W3CDTF">2026-08-13T07:23:44Z</dcterms:modified>
</cp:coreProperties>
</file>